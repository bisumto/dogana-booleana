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c6a069c11943d9" /><Relationship Type="http://schemas.openxmlformats.org/officeDocument/2006/relationships/extended-properties" Target="/docProps/app.xml" Id="R00558d4d037b4b23" /><Relationship Type="http://schemas.openxmlformats.org/officeDocument/2006/relationships/officeDocument" Target="/ppt/presentation.xml" Id="R85954abafa9f41c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3868b514b344c62"/>
    <p:sldMasterId xmlns:r="http://schemas.openxmlformats.org/officeDocument/2006/relationships" id="2147483660" r:id="Rfe2d379be4d24452"/>
  </p:sldMasterIdLst>
  <p:notesMasterIdLst>
    <p:notesMasterId xmlns:r="http://schemas.openxmlformats.org/officeDocument/2006/relationships" r:id="R21192b58ce33459d"/>
  </p:notesMasterIdLst>
  <p:sldIdLst>
    <p:sldId xmlns:r="http://schemas.openxmlformats.org/officeDocument/2006/relationships" id="256" r:id="R4c43e097bcec4904"/>
    <p:sldId xmlns:r="http://schemas.openxmlformats.org/officeDocument/2006/relationships" id="257" r:id="R2ea95bac056641aa"/>
    <p:sldId xmlns:r="http://schemas.openxmlformats.org/officeDocument/2006/relationships" id="258" r:id="Rd6bd0cdb073045c7"/>
    <p:sldId xmlns:r="http://schemas.openxmlformats.org/officeDocument/2006/relationships" id="259" r:id="R69fbc3fb51b643fa"/>
    <p:sldId xmlns:r="http://schemas.openxmlformats.org/officeDocument/2006/relationships" id="260" r:id="R095a450d7ba74d9f"/>
    <p:sldId xmlns:r="http://schemas.openxmlformats.org/officeDocument/2006/relationships" id="261" r:id="Rb39adbedda9342f9"/>
    <p:sldId xmlns:r="http://schemas.openxmlformats.org/officeDocument/2006/relationships" id="262" r:id="R6fbd45027af34c80"/>
    <p:sldId xmlns:r="http://schemas.openxmlformats.org/officeDocument/2006/relationships" id="263" r:id="Rd155d3e73e204296"/>
    <p:sldId xmlns:r="http://schemas.openxmlformats.org/officeDocument/2006/relationships" id="264" r:id="R6650b26a353c407d"/>
    <p:sldId xmlns:r="http://schemas.openxmlformats.org/officeDocument/2006/relationships" id="265" r:id="Rb1b2692d3c1445f3"/>
    <p:sldId xmlns:r="http://schemas.openxmlformats.org/officeDocument/2006/relationships" id="266" r:id="R7baa367e987d4a89"/>
    <p:sldId xmlns:r="http://schemas.openxmlformats.org/officeDocument/2006/relationships" id="267" r:id="R9d88a92c4ee647fb"/>
    <p:sldId xmlns:r="http://schemas.openxmlformats.org/officeDocument/2006/relationships" id="268" r:id="R4a513cd444a945e8"/>
    <p:sldId xmlns:r="http://schemas.openxmlformats.org/officeDocument/2006/relationships" id="269" r:id="Rfb1bcfaa95bc4603"/>
    <p:sldId xmlns:r="http://schemas.openxmlformats.org/officeDocument/2006/relationships" id="270" r:id="Re73ffcd818e94265"/>
    <p:sldId xmlns:r="http://schemas.openxmlformats.org/officeDocument/2006/relationships" id="271" r:id="Ra6fe2440efaf4d93"/>
    <p:sldId xmlns:r="http://schemas.openxmlformats.org/officeDocument/2006/relationships" id="272" r:id="R7705a88768c8469c"/>
    <p:sldId xmlns:r="http://schemas.openxmlformats.org/officeDocument/2006/relationships" id="273" r:id="R146ecdca5d824dac"/>
    <p:sldId xmlns:r="http://schemas.openxmlformats.org/officeDocument/2006/relationships" id="274" r:id="R50e54cae51d14e8c"/>
    <p:sldId xmlns:r="http://schemas.openxmlformats.org/officeDocument/2006/relationships" id="275" r:id="R076ca8372cbb4a1e"/>
    <p:sldId xmlns:r="http://schemas.openxmlformats.org/officeDocument/2006/relationships" id="276" r:id="R898a2f91b74e4a83"/>
    <p:sldId xmlns:r="http://schemas.openxmlformats.org/officeDocument/2006/relationships" id="277" r:id="Rd4ea20f236f9424b"/>
    <p:sldId xmlns:r="http://schemas.openxmlformats.org/officeDocument/2006/relationships" id="278" r:id="R54a6c748a833408b"/>
    <p:sldId xmlns:r="http://schemas.openxmlformats.org/officeDocument/2006/relationships" id="279" r:id="Rb6bd8b64ef49413c"/>
    <p:sldId xmlns:r="http://schemas.openxmlformats.org/officeDocument/2006/relationships" id="280" r:id="R668e80a6b8b74693"/>
    <p:sldId xmlns:r="http://schemas.openxmlformats.org/officeDocument/2006/relationships" id="281" r:id="Rfc0634fabc9b4ec2"/>
    <p:sldId xmlns:r="http://schemas.openxmlformats.org/officeDocument/2006/relationships" id="282" r:id="R34ff9cea09fe4a23"/>
    <p:sldId xmlns:r="http://schemas.openxmlformats.org/officeDocument/2006/relationships" id="283" r:id="Ra6c9d3f210d84154"/>
    <p:sldId xmlns:r="http://schemas.openxmlformats.org/officeDocument/2006/relationships" id="284" r:id="Rdbf921dd82434105"/>
    <p:sldId xmlns:r="http://schemas.openxmlformats.org/officeDocument/2006/relationships" id="285" r:id="Refa999ae45cc457f"/>
    <p:sldId xmlns:r="http://schemas.openxmlformats.org/officeDocument/2006/relationships" id="286" r:id="R3a9031b9bd4c4e38"/>
    <p:sldId xmlns:r="http://schemas.openxmlformats.org/officeDocument/2006/relationships" id="287" r:id="R9fa2584fc1204e47"/>
  </p:sldIdLst>
  <p:sldSz cx="9144000" cy="5143500"/>
  <p:notesSz cx="6858000" cy="9144000"/>
  <p:embeddedFontLst>
    <p:embeddedFont>
      <p:font typeface="Lato"/>
      <p:regular xmlns:r="http://schemas.openxmlformats.org/officeDocument/2006/relationships" r:id="R51e90c9baff2429c"/>
      <p:bold xmlns:r="http://schemas.openxmlformats.org/officeDocument/2006/relationships" r:id="R2456c8f5466a4181"/>
      <p:italic xmlns:r="http://schemas.openxmlformats.org/officeDocument/2006/relationships" r:id="R335b92489aa94aa7"/>
      <p:boldItalic xmlns:r="http://schemas.openxmlformats.org/officeDocument/2006/relationships" r:id="Rb1b93aded5ed417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e20eaa4c5d4b75" /><Relationship Type="http://schemas.openxmlformats.org/officeDocument/2006/relationships/slideMaster" Target="/ppt/slideMasters/slideMaster1.xml" Id="R43868b514b344c62" /><Relationship Type="http://schemas.openxmlformats.org/officeDocument/2006/relationships/slideMaster" Target="/ppt/slideMasters/slideMaster2.xml" Id="Rfe2d379be4d24452" /><Relationship Type="http://schemas.openxmlformats.org/officeDocument/2006/relationships/notesMaster" Target="/ppt/notesMasters/notesMaster1.xml" Id="R21192b58ce33459d" /><Relationship Type="http://schemas.openxmlformats.org/officeDocument/2006/relationships/presProps" Target="/ppt/presProps.xml" Id="R7a5319775ec04d99" /><Relationship Type="http://schemas.openxmlformats.org/officeDocument/2006/relationships/viewProps" Target="/ppt/viewProps.xml" Id="Rff7b092b9b9e4cbc" /><Relationship Type="http://schemas.openxmlformats.org/officeDocument/2006/relationships/tableStyles" Target="/ppt/tableStyles.xml" Id="Ref2d260f1a754527" /><Relationship Type="http://schemas.openxmlformats.org/officeDocument/2006/relationships/font" Target="/ppt/fonts/font.dat" Id="R51e90c9baff2429c" /><Relationship Type="http://schemas.openxmlformats.org/officeDocument/2006/relationships/font" Target="/ppt/fonts/font2.dat" Id="R2456c8f5466a4181" /><Relationship Type="http://schemas.openxmlformats.org/officeDocument/2006/relationships/font" Target="/ppt/fonts/font3.dat" Id="R335b92489aa94aa7" /><Relationship Type="http://schemas.openxmlformats.org/officeDocument/2006/relationships/font" Target="/ppt/fonts/font4.dat" Id="Rb1b93aded5ed417f" /><Relationship Type="http://schemas.openxmlformats.org/officeDocument/2006/relationships/slide" Target="/ppt/slides/slide1.xml" Id="R4c43e097bcec4904" /><Relationship Type="http://schemas.openxmlformats.org/officeDocument/2006/relationships/slide" Target="/ppt/slides/slide2.xml" Id="R2ea95bac056641aa" /><Relationship Type="http://schemas.openxmlformats.org/officeDocument/2006/relationships/slide" Target="/ppt/slides/slide3.xml" Id="Rd6bd0cdb073045c7" /><Relationship Type="http://schemas.openxmlformats.org/officeDocument/2006/relationships/slide" Target="/ppt/slides/slide4.xml" Id="R69fbc3fb51b643fa" /><Relationship Type="http://schemas.openxmlformats.org/officeDocument/2006/relationships/slide" Target="/ppt/slides/slide5.xml" Id="R095a450d7ba74d9f" /><Relationship Type="http://schemas.openxmlformats.org/officeDocument/2006/relationships/slide" Target="/ppt/slides/slide6.xml" Id="Rb39adbedda9342f9" /><Relationship Type="http://schemas.openxmlformats.org/officeDocument/2006/relationships/slide" Target="/ppt/slides/slide7.xml" Id="R6fbd45027af34c80" /><Relationship Type="http://schemas.openxmlformats.org/officeDocument/2006/relationships/slide" Target="/ppt/slides/slide8.xml" Id="Rd155d3e73e204296" /><Relationship Type="http://schemas.openxmlformats.org/officeDocument/2006/relationships/slide" Target="/ppt/slides/slide9.xml" Id="R6650b26a353c407d" /><Relationship Type="http://schemas.openxmlformats.org/officeDocument/2006/relationships/slide" Target="/ppt/slides/slide10.xml" Id="Rb1b2692d3c1445f3" /><Relationship Type="http://schemas.openxmlformats.org/officeDocument/2006/relationships/slide" Target="/ppt/slides/slide11.xml" Id="R7baa367e987d4a89" /><Relationship Type="http://schemas.openxmlformats.org/officeDocument/2006/relationships/slide" Target="/ppt/slides/slide12.xml" Id="R9d88a92c4ee647fb" /><Relationship Type="http://schemas.openxmlformats.org/officeDocument/2006/relationships/slide" Target="/ppt/slides/slide13.xml" Id="R4a513cd444a945e8" /><Relationship Type="http://schemas.openxmlformats.org/officeDocument/2006/relationships/slide" Target="/ppt/slides/slide14.xml" Id="Rfb1bcfaa95bc4603" /><Relationship Type="http://schemas.openxmlformats.org/officeDocument/2006/relationships/slide" Target="/ppt/slides/slide15.xml" Id="Re73ffcd818e94265" /><Relationship Type="http://schemas.openxmlformats.org/officeDocument/2006/relationships/slide" Target="/ppt/slides/slide16.xml" Id="Ra6fe2440efaf4d93" /><Relationship Type="http://schemas.openxmlformats.org/officeDocument/2006/relationships/slide" Target="/ppt/slides/slide17.xml" Id="R7705a88768c8469c" /><Relationship Type="http://schemas.openxmlformats.org/officeDocument/2006/relationships/slide" Target="/ppt/slides/slide18.xml" Id="R146ecdca5d824dac" /><Relationship Type="http://schemas.openxmlformats.org/officeDocument/2006/relationships/slide" Target="/ppt/slides/slide19.xml" Id="R50e54cae51d14e8c" /><Relationship Type="http://schemas.openxmlformats.org/officeDocument/2006/relationships/slide" Target="/ppt/slides/slide20.xml" Id="R076ca8372cbb4a1e" /><Relationship Type="http://schemas.openxmlformats.org/officeDocument/2006/relationships/slide" Target="/ppt/slides/slide21.xml" Id="R898a2f91b74e4a83" /><Relationship Type="http://schemas.openxmlformats.org/officeDocument/2006/relationships/slide" Target="/ppt/slides/slide22.xml" Id="Rd4ea20f236f9424b" /><Relationship Type="http://schemas.openxmlformats.org/officeDocument/2006/relationships/slide" Target="/ppt/slides/slide23.xml" Id="R54a6c748a833408b" /><Relationship Type="http://schemas.openxmlformats.org/officeDocument/2006/relationships/slide" Target="/ppt/slides/slide24.xml" Id="Rb6bd8b64ef49413c" /><Relationship Type="http://schemas.openxmlformats.org/officeDocument/2006/relationships/slide" Target="/ppt/slides/slide25.xml" Id="R668e80a6b8b74693" /><Relationship Type="http://schemas.openxmlformats.org/officeDocument/2006/relationships/slide" Target="/ppt/slides/slide26.xml" Id="Rfc0634fabc9b4ec2" /><Relationship Type="http://schemas.openxmlformats.org/officeDocument/2006/relationships/slide" Target="/ppt/slides/slide27.xml" Id="R34ff9cea09fe4a23" /><Relationship Type="http://schemas.openxmlformats.org/officeDocument/2006/relationships/slide" Target="/ppt/slides/slide28.xml" Id="Ra6c9d3f210d84154" /><Relationship Type="http://schemas.openxmlformats.org/officeDocument/2006/relationships/slide" Target="/ppt/slides/slide29.xml" Id="Rdbf921dd82434105" /><Relationship Type="http://schemas.openxmlformats.org/officeDocument/2006/relationships/slide" Target="/ppt/slides/slide30.xml" Id="Refa999ae45cc457f" /><Relationship Type="http://schemas.openxmlformats.org/officeDocument/2006/relationships/slide" Target="/ppt/slides/slide31.xml" Id="R3a9031b9bd4c4e38" /><Relationship Type="http://schemas.openxmlformats.org/officeDocument/2006/relationships/slide" Target="/ppt/slides/slide32.xml" Id="R9fa2584fc1204e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160ea366a9a40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b1c26937314c4b" /><Relationship Type="http://schemas.openxmlformats.org/officeDocument/2006/relationships/notesMaster" Target="/ppt/notesMasters/notesMaster1.xml" Id="Re2eecf5905b540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e5f8ae6f954507" /><Relationship Type="http://schemas.openxmlformats.org/officeDocument/2006/relationships/notesMaster" Target="/ppt/notesMasters/notesMaster1.xml" Id="R113de15538ce47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9925c91bd84978" /><Relationship Type="http://schemas.openxmlformats.org/officeDocument/2006/relationships/notesMaster" Target="/ppt/notesMasters/notesMaster1.xml" Id="R1a36c73af1d643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353ddccf2841b3" /><Relationship Type="http://schemas.openxmlformats.org/officeDocument/2006/relationships/notesMaster" Target="/ppt/notesMasters/notesMaster1.xml" Id="Rbe90e1a331a849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b04eff921f4f45" /><Relationship Type="http://schemas.openxmlformats.org/officeDocument/2006/relationships/notesMaster" Target="/ppt/notesMasters/notesMaster1.xml" Id="R2cb5191131024e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d4adaecda54a64" /><Relationship Type="http://schemas.openxmlformats.org/officeDocument/2006/relationships/notesMaster" Target="/ppt/notesMasters/notesMaster1.xml" Id="Rc8c6280f3e204d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8eb379d7624095" /><Relationship Type="http://schemas.openxmlformats.org/officeDocument/2006/relationships/notesMaster" Target="/ppt/notesMasters/notesMaster1.xml" Id="Rd637a9f4b7004f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79dbc89ce94cc7" /><Relationship Type="http://schemas.openxmlformats.org/officeDocument/2006/relationships/notesMaster" Target="/ppt/notesMasters/notesMaster1.xml" Id="R2e1a507ebf614e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b6b23bc1324c48" /><Relationship Type="http://schemas.openxmlformats.org/officeDocument/2006/relationships/notesMaster" Target="/ppt/notesMasters/notesMaster1.xml" Id="Ra897477295534a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8d9bf4345c4f0f" /><Relationship Type="http://schemas.openxmlformats.org/officeDocument/2006/relationships/notesMaster" Target="/ppt/notesMasters/notesMaster1.xml" Id="R4d2857e9709549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902a47bd474baf" /><Relationship Type="http://schemas.openxmlformats.org/officeDocument/2006/relationships/notesMaster" Target="/ppt/notesMasters/notesMaster1.xml" Id="R991b55f890c94e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893a3ef48741b0" /><Relationship Type="http://schemas.openxmlformats.org/officeDocument/2006/relationships/notesMaster" Target="/ppt/notesMasters/notesMaster1.xml" Id="R02bb1d48658848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adde2adeb54612" /><Relationship Type="http://schemas.openxmlformats.org/officeDocument/2006/relationships/notesMaster" Target="/ppt/notesMasters/notesMaster1.xml" Id="R899f2579e11848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edb6661030485d" /><Relationship Type="http://schemas.openxmlformats.org/officeDocument/2006/relationships/notesMaster" Target="/ppt/notesMasters/notesMaster1.xml" Id="R7b6dc6fddd2c44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cf813bf9944797" /><Relationship Type="http://schemas.openxmlformats.org/officeDocument/2006/relationships/notesMaster" Target="/ppt/notesMasters/notesMaster1.xml" Id="R8a39e22145484a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989d216f6f4452" /><Relationship Type="http://schemas.openxmlformats.org/officeDocument/2006/relationships/notesMaster" Target="/ppt/notesMasters/notesMaster1.xml" Id="Rc561dd08ff9b45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6b562cc19149dc" /><Relationship Type="http://schemas.openxmlformats.org/officeDocument/2006/relationships/notesMaster" Target="/ppt/notesMasters/notesMaster1.xml" Id="R209eba4b7a904d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04fc214f2346b9" /><Relationship Type="http://schemas.openxmlformats.org/officeDocument/2006/relationships/notesMaster" Target="/ppt/notesMasters/notesMaster1.xml" Id="R09fb2fbf41f143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ceead7c9a04206" /><Relationship Type="http://schemas.openxmlformats.org/officeDocument/2006/relationships/notesMaster" Target="/ppt/notesMasters/notesMaster1.xml" Id="R1c6a9da7f75f4c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1e556964ca43b0" /><Relationship Type="http://schemas.openxmlformats.org/officeDocument/2006/relationships/notesMaster" Target="/ppt/notesMasters/notesMaster1.xml" Id="R046b5d46e02845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a593aa73b52486a" /><Relationship Type="http://schemas.openxmlformats.org/officeDocument/2006/relationships/notesMaster" Target="/ppt/notesMasters/notesMaster1.xml" Id="R5470ddce9a8143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2d145aaf644f73" /><Relationship Type="http://schemas.openxmlformats.org/officeDocument/2006/relationships/notesMaster" Target="/ppt/notesMasters/notesMaster1.xml" Id="Rcfaed1a2e02b4c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e8595630d74ea6" /><Relationship Type="http://schemas.openxmlformats.org/officeDocument/2006/relationships/notesMaster" Target="/ppt/notesMasters/notesMaster1.xml" Id="R18af64a56d2041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69d404d59c44957" /><Relationship Type="http://schemas.openxmlformats.org/officeDocument/2006/relationships/notesMaster" Target="/ppt/notesMasters/notesMaster1.xml" Id="R2cc1a36e1086431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637dbe57e234536" /><Relationship Type="http://schemas.openxmlformats.org/officeDocument/2006/relationships/notesMaster" Target="/ppt/notesMasters/notesMaster1.xml" Id="Re8cf74dad55f4ce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7968823cc6e4587" /><Relationship Type="http://schemas.openxmlformats.org/officeDocument/2006/relationships/notesMaster" Target="/ppt/notesMasters/notesMaster1.xml" Id="Rb6cdbf4fd575422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319b45fcc6484a" /><Relationship Type="http://schemas.openxmlformats.org/officeDocument/2006/relationships/notesMaster" Target="/ppt/notesMasters/notesMaster1.xml" Id="Rbb7835d4db954f0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e222071e6943da" /><Relationship Type="http://schemas.openxmlformats.org/officeDocument/2006/relationships/notesMaster" Target="/ppt/notesMasters/notesMaster1.xml" Id="Rb5daf5999f3e44c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c5a862d1a54f9a" /><Relationship Type="http://schemas.openxmlformats.org/officeDocument/2006/relationships/notesMaster" Target="/ppt/notesMasters/notesMaster1.xml" Id="R494fc70a6645479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db779ce2f874b0f" /><Relationship Type="http://schemas.openxmlformats.org/officeDocument/2006/relationships/notesMaster" Target="/ppt/notesMasters/notesMaster1.xml" Id="R10f0f9e492ff4d0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9e6f1679b44204" /><Relationship Type="http://schemas.openxmlformats.org/officeDocument/2006/relationships/notesMaster" Target="/ppt/notesMasters/notesMaster1.xml" Id="R381734d6e53548a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d5084c0aecf4eab" /><Relationship Type="http://schemas.openxmlformats.org/officeDocument/2006/relationships/notesMaster" Target="/ppt/notesMasters/notesMaster1.xml" Id="Rc5d0b19b4ca94b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Lezione di consolidamento. Il ripasso iniziale è scritto: utilizzare gli esercizi di somme e moltiplicazioni binarie già preparati dal docente, senza aggiungere una nuova lista. Riprendere AND e OR con esempi concreti, introdurre NOT e poi applicare le regole nel gioco.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Presentare la frase come una provocazione da mettere alla prova, non come una legge. Chiedere di scegliere una strategia. Alla fine confrontare il lavoro realmente corretto, gli errori e la continuità. La scelta del team non determina un voto.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Ogni studente sceglie il team prima di iniziare. Stessi esercizi e stesso tempo deciso dal docente. Team Quantità conta gli esercizi completati, ma registra anche quelli corretti. Team Serie cerca la serie più lunga di risposte corrette consecutive nell’ordine assegnato: un errore interrompe la serie e la successiva risposta corretta riparte da 1. Non trasformare direttamente i conteggi in voti.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Distribuire o proiettare la scheda già preparata dal docente. Comunicare il tempo effettivo prima del via e applicarlo a tutti. Non è fissata qui una durata. Gli studenti seguono l’ordine degli esercizi per rendere interpretabile la serie. Conservare i passaggi per distinguere metodo ed errori di calcolo. Per la valutazione usare i criteri comunicati dal docente: quantità o rapidità da sole non sono un voto.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Correggere insieme usando la scheda del docente. Una sequenza di esempio C,C,E,C,C,C dà 5 corretti su 6 e serie migliore 3: usare oralmente solo se serve chiarire il criterio, senza aggiungerla agli esercizi assegnati. Confrontare strategie su stessi esercizi e tempo. Osservare correttezza, metodo e capacità di controllo. Un maggior numero di tentativi non implica automaticamente una competenza migliore.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Esempio inventato ma quotidiano: per partecipare a un evento servono sia biglietto sia prenotazione. Chiedere i quattro casi. Avere solo uno dei due non soddisfa la regola. Dire «e» ad alta voce prima di usare AND.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Regola ipotetica di uno sconto: basta essere studenti oppure possedere una tessera. Essere studenti e avere la tessera soddisfa comunque la regola. Questo è OR inclusivo. Non parlare di scelta esclusiva tra due alternative. Far verbalizzare il caso con entrambe le condizioni vere.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 significa vero e 0 falso. Leggere prima le due condizioni, poi il risultato. Coprire inizialmente le colonne dei risultati o farle ricostruire a voce. Chiedere quale riga distingue maggiormente AND e OR. OR non è una somma: 1 | 1 resta 1.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NOT ha una sola condizione in ingresso. Se la frase iniziale è vera, la sua negazione è falsa e viceversa. Per evitare ambiguità, usare prima frasi con due soli valori possibili. Far dire «non» prima di leggere NOT.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L’esempio riguarda il telefono in un preciso istante. «Il telefono non è acceso» è la negazione di «il telefono è acceso» nell’ipotesi binaria acceso/spento. Spiegare che negare non significa cambiare argomento: la negazione di «porto gli occhiali» è «non porto gli occhiali», non «porto un cappello».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classe usiamo &amp; per AND, | per OR inclusivo e ! per NOT. Questi sono i simboli predefiniti del gioco. Far leggere le espressioni anche a parole: e, o almeno una, non. Le parentesi raggruppano le operazioni. La scelta dei simboli cambia la scrittura, non le regole logiche.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Risposte individuali 1 o 0. Chiedere anche una breve motivazione. Situazioni riferite alle regole semplificate delle slide: evento con biglietto AND prenotazione e sconto studente OR tessera. Soluzioni: 0,1,1,0. La slide successiva le mostra.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Leggere la motivazione, non solo il bit. Nel secondo esercizio OR resta 1 anche se entrambe le condizioni sono vere. Nel quarto si nega una condizione vera. Se emergono errori, ricondurre il ragionamento alla riga corretta della tabella di verità.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Confrontare una colonna alla volta: 1101 &amp; 1010 = 1000; 1101 | 1010 = 1111. Non ci sono riporti. I quattro bit rappresentano quattro confronti indipendenti. Evitare di trattare AND come la moltiplicazione di due numeri interi.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larghezza è parte dell’esercizio: qui usiamo esattamente 4 bit. Ogni 0 diventa 1 e ogni 1 diventa 0. !0101 = 1010 e !1100 = 0011. Conservare tutti e quattro i posti, inclusi gli zeri iniziali. Qui ! è la notazione scelta per il complemento bit a bit su quattro posti. Non è una sintassi universale: nei linguaggi di programmazione ! può indicare una negazione booleana diversa dal complemento bit a bit. Non estendere automaticamente la regola agli interi con segno.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Sul quaderno, conservando quattro bit in ogni risultato. Non introdurre riporti. Soluzioni: 1000,1111,1001,0000. Per il terzo e quarto esercizio NOT opera sull’intera sequenza ma separatamente su ogni posizione.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Far spiegare una posizione scelta a caso per ciascun risultato. Nell’ultimo esercizio richiedere la scrittura 0000 per mantenere esplicita la larghezza. Controllo indipendente: 10 &amp; 12 = 8; 5 | 10 = 15; complemento a 4 bit di 6 = 9; complemento a 4 bit di 15 = 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Esempio numerico con bit singoli. Prima la parentesi: 0 | 1 = 1. Poi !1 = 0. Infine 1 &amp; 0 = 0. Non introdurre una gerarchia implicita difficile: usare parentesi esplicite e valutare dall’interno verso l’esterno.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Ogni icona vale 1 se l’oggetto è presente e 0 se è assente. La regola richiede il cappello e l’assenza degli occhiali. Non introdurre variabili letterali. Chiedere 0 o 1 per ogni persona. Soluzioni: 1,0,0. Le descrizioni sotto la regola rendono esplicita la presenza o assenza dei tratti.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Sottolineare che NOT occhiali è vero quando gli occhiali mancano. Nel caso 3 la negazione è vera, ma AND fallisce perché manca il cappello. Questo prepara il controllo di accesso senza usare lettere come variabili.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Aprire il gioco con il collegamento condiviso dal docente. Il gioco mette in pratica AND, OR e NOT: lo studente decide se ogni ospite rispetta la regola. Le caratteristiche sono rappresentate da icone, anche nella modalità progressiva. Non annunciare un URL pubblico finché non è disponibile.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Mostrare l’interfaccia e individuare regola, ospite, vite e comandi. La schermata mostra una partita reale. Il gioco comprende 20 ambientazioni. Individuare insieme le vite rimaste e il conto alla rovescia, presente dal livello 5. Nel gioco la regola resta fissa durante la serie del livello, mentre gli ospiti cambiano.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Esempio iniziale semplice: cappello AND NOT occhiali. Prima verificare il cappello, poi negare il valore degli occhiali, infine applicare AND. La regola resta fissa per il livello e cambia con la progressione. Nel percorso progressivo le regole e le difficoltà sono fissate dal gioco. I colori dei tratti contano solo quando la regola li richiede. Le personalizzazioni appartengono allo spazio separato Allenamento.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 smartphone scorrere a sinistra o destra, oppure usare i pulsanti. Non servono due gesti consecutivi: swipe e pulsante sono alternative. Un errore o una mancata risposta entro il tempo fanno perdere una vita. All’esaurimento delle tre vite la partita termina. Nei primi livelli non c’è un conto alla rovescia visibile.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Primi quattro livelli senza timer: lasciare spazio all’apprendimento. Dal livello 5 compare un tempo per ciascun ospite, adattivo alla difficoltà e all’andamento del giocatore. Non indicare secondi fissi, soglie o livelli aggiuntivi non confermati. Il timer riparte con il nuovo ospite e non consuma tempo durante il feedback.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pausa di feedback serve a leggere esito e spiegazione prima del nuovo ospite. Fare verbalizzare una condizione decisiva. In caso di errore distinguere la lettura del tratto dalla valutazione dell’operatore e dalla pressione del comando. Il feedback non deve essere trattato come un ostacolo da saltare.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 menu del gioco contiene soltanto Simboli, Audio e Animazioni. In classe mantenere i simboli predefiniti &amp; | !. Le regole del percorso progressivo sono fisse e non si modificano dalle impostazioni. Le personalizzazioni di timer, colori, pattern, distrattori e dettaglio visivo si trovano soltanto nello spazio separato Allenamento. I tentativi di Allenamento hanno una classificazione distinta nel LOG e non sbloccano livelli. Non approfondire questi controlli nella lezione di base.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 percorso progressivo comprende 20 livelli con regole fisse, sempre rappresentate da icone. La modalità infinita si sblocca soltanto dopo il completamento di tutti i 20 livelli. Tra un turno e l’altro è possibile ripassare i livelli già sbloccati. Allenamento è uno spazio separato con proprie personalizzazioni: le sue risposte restano distinte nel LOG e non fanno avanzare né sbloccano il percorso progressivo o la modalità infinita.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Regola cappello OR occhiali, OR inclusivo. Ogni studente decide prima della correzione, usando 0 per respingere e 1 per ammettere. Risposte nell’ordine: 1,1,1,0. Il terzo caso è cruciale per correggere l’interpretazione esclusiva di 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Chiedere perché il terzo ospite entra. Non aggiungere condizioni non presenti nella regola: abbigliamento, colore o altri oggetti non contano per questo esempio. Il quarto ospite non soddisfa nessuna delle due condizioni.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Far aprire Il mio report e usare il download del LOG. Il LOG distingue i tentativi del percorso da quelli di Allenamento: confrontarli separatamente. Allenamento non sblocca livelli. Il LOG serve a rivedere le risposte e il lavoro svolto. Non assegnare qui un numero minimo di partite o esercizi che il docente non ha richiesto. Indicare il compito Classroom reale e verificare che gli studenti confermino la consegna, non solo l’allegato. Nessun invio automatico del file: il caricamento è un’azione dello studente.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Breve verifica formativa: AND è vero solo se entrambe le condizioni sono vere; OR inclusivo è vero se almeno una è vera e include il caso entrambe; NOT capovolge il valore di una sola condizione. Nell’ultima domanda chiedere un caso concreto tratto dal gioco o dagli esercizi. Non aggiungere compiti non richiesti.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80d8b6dfa46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9d2e4647a468d" /><Relationship Type="http://schemas.openxmlformats.org/officeDocument/2006/relationships/image" Target="/ppt/media/image.png" Id="Re1c83d7b21794e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98af256974ecf" /><Relationship Type="http://schemas.openxmlformats.org/officeDocument/2006/relationships/image" Target="/ppt/media/image.png" Id="R7ee37e2a051a46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893b9f4e449b1" /><Relationship Type="http://schemas.openxmlformats.org/officeDocument/2006/relationships/image" Target="/ppt/media/image.png" Id="R3c5d31dde2db42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0edf2f16547e7" /><Relationship Type="http://schemas.openxmlformats.org/officeDocument/2006/relationships/image" Target="/ppt/media/image.png" Id="R985d048a8cce49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7049d6630411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26a49388344e3" /><Relationship Type="http://schemas.openxmlformats.org/officeDocument/2006/relationships/image" Target="/ppt/media/image.png" Id="Rfafaa93c66804e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28806f8bd44c3" /><Relationship Type="http://schemas.openxmlformats.org/officeDocument/2006/relationships/image" Target="/ppt/media/image.png" Id="Rc3e6e19738ac437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7e68acb39416a" /><Relationship Type="http://schemas.openxmlformats.org/officeDocument/2006/relationships/image" Target="/ppt/media/image.png" Id="R78602049c892410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64af5a0d24b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7d24b41e7417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cbc2d61012442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5aa90533fa4616" /><Relationship Type="http://schemas.openxmlformats.org/officeDocument/2006/relationships/image" Target="/ppt/media/image.png" Id="R97d8f5d952864f5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89dc0d340b4ff3" /><Relationship Type="http://schemas.openxmlformats.org/officeDocument/2006/relationships/image" Target="/ppt/media/image.png" Id="Rc207ec27adb945c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e3d0f634d1410b" /><Relationship Type="http://schemas.openxmlformats.org/officeDocument/2006/relationships/image" Target="/ppt/media/image.png" Id="R2ca92262727d4c5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80e7fa69594376" /><Relationship Type="http://schemas.openxmlformats.org/officeDocument/2006/relationships/image" Target="/ppt/media/image.png" Id="R355a5094cedd47b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b9efc32e974f3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ccfeab27574f02" /><Relationship Type="http://schemas.openxmlformats.org/officeDocument/2006/relationships/image" Target="/ppt/media/image.png" Id="R41e39c8fa2ee4f4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61f29a0ea04e8d" /><Relationship Type="http://schemas.openxmlformats.org/officeDocument/2006/relationships/image" Target="/ppt/media/image.png" Id="R93de1884fc6f498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f9f67d1c2a45d5" /><Relationship Type="http://schemas.openxmlformats.org/officeDocument/2006/relationships/image" Target="/ppt/media/image.png" Id="R92c8d2cd0e854e6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0d27055dd8406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6e09362cc74d8a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3D5B4D6-64F5-4661-B317-99210B4A30E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5CF84A6-C4A1-4F05-B556-D1050D40DE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F9A5FC5-E598-4801-BF8C-3FF87ED36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Contenuto generico">
  <p:cSld name="CUSTOM_7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Google Shape;14;p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83d7b21794e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600" y="4360300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58F48C08-CE7F-426A-A53C-0B8B6EC2AE3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22475" y="359800"/>
            <a:ext cx="3795000" cy="13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74450EC9-BF08-40EB-9013-0F578B5EB41C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354088" y="359800"/>
            <a:ext cx="2138400" cy="440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3D"/>
          </a:solidFill>
          <a:ln xmlns:a="http://schemas.openxmlformats.org/drawingml/2006/main">
            <a:noFill/>
          </a:ln>
        </p:spPr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886C4F3F-45F0-4EF2-8E3A-1084894458B5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629100" y="359800"/>
            <a:ext cx="2138400" cy="44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99BA00AD-8EB9-4325-AFFF-2F59B3BC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325" y="1205300"/>
            <a:ext cx="40362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74CDF61A-12F6-4BE5-A276-C1E3839D5A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2475" y="1919100"/>
            <a:ext cx="3795000" cy="227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Contatto">
  <p:cSld name="CUSTOM_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BC11F731-E483-4512-8704-72A6CEC2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875" y="4192800"/>
            <a:ext cx="5872200" cy="950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" name="Google Shape;22;p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37e2a051a464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0850" y="4353300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3A1A606F-152C-4BBA-830F-0E5A906DD90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280875" y="0"/>
            <a:ext cx="5863200" cy="435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79C25EF3-BB81-4C97-A0AD-CD271EA7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287300"/>
            <a:ext cx="20112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 b="1">
                <a:solidFill>
                  <a:schemeClr val="dk1"/>
                </a:solidFill>
              </a:rPr>
              <a:t>Contatto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9B4626B4-52E4-430B-8295-5136482B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1310400"/>
            <a:ext cx="2648700" cy="23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solidFill>
                  <a:schemeClr val="dk1"/>
                </a:solidFill>
              </a:rPr>
              <a:t>Il tuo nome</a:t>
            </a:r>
            <a:br/>
            <a:r>
              <a:rPr>
                <a:solidFill>
                  <a:schemeClr val="dk1"/>
                </a:solidFill>
              </a:rPr>
              <a:t>no_reply@example.com</a:t>
            </a:r>
            <a:endParaRPr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>
                <a:solidFill>
                  <a:schemeClr val="dk1"/>
                </a:solidFill>
              </a:rPr>
              <a:t>Serie completa disponibile su</a:t>
            </a:r>
            <a:br/>
            <a:r>
              <a:rPr i="1">
                <a:solidFill>
                  <a:schemeClr val="dk1"/>
                </a:solidFill>
              </a:rPr>
              <a:t>www.example.com</a:t>
            </a:r>
            <a:endParaRPr sz="1800">
              <a:solidFill>
                <a:schemeClr val="dk2"/>
              </a:solidFill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piegazione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5E911170-DAAF-48B5-8875-36D20A88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" y="4108025"/>
            <a:ext cx="9144000" cy="13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61E84B4F-E5D0-4AD5-A3B2-53E3652C2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6050"/>
            <a:ext cx="8384700" cy="68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6172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34" name="Google Shape;29;p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d31dde2db42a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625" y="4371975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3418A97C-8D69-4CE8-91A8-A938C2AC9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1225" y="917275"/>
            <a:ext cx="7648800" cy="29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Layout personalizzato 1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04E63122-E34B-4327-A473-11C81EA7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050" y="4192800"/>
            <a:ext cx="4581000" cy="950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FEDA7401-BAE8-42A0-A829-4B6337DA713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-7000"/>
            <a:ext cx="4572000" cy="419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542235C7-4EEE-479D-919B-82508D31D7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02025" y="1617500"/>
            <a:ext cx="4267500" cy="95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rgbClr val="AB171A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39" name="Google Shape;35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d048a8cce495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600" y="4360300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Immagini">
  <p:cSld name="CUSTOM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D5DAD776-62D8-4E0D-BA07-86FDDEE7BA9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06425" y="364400"/>
            <a:ext cx="3795000" cy="139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251C1FA0-8E9E-4FE1-A0E5-B3D49B09BD7D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33775" y="1886650"/>
            <a:ext cx="3767700" cy="285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7">
            <a:extLst xmlns:a="http://schemas.openxmlformats.org/drawingml/2006/main">
              <a:ext uri="{FF2B5EF4-FFF2-40B4-BE49-F238E27FC236}">
                <a16:creationId xmlns:a16="http://schemas.microsoft.com/office/drawing/2014/main" id="{5A0038D9-CE52-4406-9D5C-BF8B7F806D6A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56075" y="364400"/>
            <a:ext cx="2146500" cy="438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0" name="Google Shape;40;p7">
            <a:extLst xmlns:a="http://schemas.openxmlformats.org/drawingml/2006/main">
              <a:ext uri="{FF2B5EF4-FFF2-40B4-BE49-F238E27FC236}">
                <a16:creationId xmlns:a16="http://schemas.microsoft.com/office/drawing/2014/main" id="{B384A041-00E7-4F83-9CE8-4B2CEEF511F9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6629825" y="364400"/>
            <a:ext cx="2146500" cy="438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7.xml><?xml version="1.0" encoding="utf-8"?>
<p:sldLayout xmlns:p="http://schemas.openxmlformats.org/presentationml/2006/main" matchingName="Titolo,sottotitolo e testo">
  <p:cSld name="CUSTOM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0BCB706A-3663-461B-BBF1-0EB2B661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4572300" cy="499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DD2F7BE2-1AA6-440B-A887-ACB3448FF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3450" y="724200"/>
            <a:ext cx="3622800" cy="189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rgbClr val="0D071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05136C42-6CEC-4835-90EE-823C9BCCFE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3450" y="2702400"/>
            <a:ext cx="3987300" cy="63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i="1">
                <a:solidFill>
                  <a:srgbClr val="5E696C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51" name="Google Shape;45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aa93c66804e1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600" y="4360300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" name="Google Shape;46;p8">
            <a:extLst xmlns:a="http://schemas.openxmlformats.org/drawingml/2006/main">
              <a:ext uri="{FF2B5EF4-FFF2-40B4-BE49-F238E27FC236}">
                <a16:creationId xmlns:a16="http://schemas.microsoft.com/office/drawing/2014/main" id="{469F9C1B-23FB-4C7C-AFE0-AFD5136B9C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5450" y="779700"/>
            <a:ext cx="3845400" cy="358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Diapositiva classica">
  <p:cSld name="CUSTOM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9">
            <a:extLst xmlns:a="http://schemas.openxmlformats.org/drawingml/2006/main">
              <a:ext uri="{FF2B5EF4-FFF2-40B4-BE49-F238E27FC236}">
                <a16:creationId xmlns:a16="http://schemas.microsoft.com/office/drawing/2014/main" id="{FBEC7661-C2E7-4F36-8FC4-101C1AF1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" y="4108025"/>
            <a:ext cx="9144000" cy="13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" name="Google Shape;49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6e19738ac437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625" y="4371975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0" name="Google Shape;50;p9">
            <a:extLst xmlns:a="http://schemas.openxmlformats.org/drawingml/2006/main">
              <a:ext uri="{FF2B5EF4-FFF2-40B4-BE49-F238E27FC236}">
                <a16:creationId xmlns:a16="http://schemas.microsoft.com/office/drawing/2014/main" id="{CD8BD07D-11ED-46B0-AD68-F7C4C01154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63075"/>
            <a:ext cx="8608800" cy="42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6172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9">
            <a:extLst xmlns:a="http://schemas.openxmlformats.org/drawingml/2006/main">
              <a:ext uri="{FF2B5EF4-FFF2-40B4-BE49-F238E27FC236}">
                <a16:creationId xmlns:a16="http://schemas.microsoft.com/office/drawing/2014/main" id="{C02AAF45-1C80-4F7D-809A-4406A5A37F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88900"/>
            <a:ext cx="8608800" cy="251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marR="0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rgbClr val="5E696C"/>
                </a:solidFill>
                <a:latin typeface="Lato"/>
                <a:ea typeface="Lato"/>
                <a:cs typeface="Lato"/>
              </a:defRPr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itolo 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0">
            <a:extLst xmlns:a="http://schemas.openxmlformats.org/drawingml/2006/main">
              <a:ext uri="{FF2B5EF4-FFF2-40B4-BE49-F238E27FC236}">
                <a16:creationId xmlns:a16="http://schemas.microsoft.com/office/drawing/2014/main" id="{B2CDE4B8-E641-4F5E-B084-720173FA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" y="0"/>
            <a:ext cx="9144000" cy="42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1D3D"/>
              </a:solidFill>
            </a:endParaRPr>
          </a:p>
        </p:txBody>
      </p:sp>
      <p:sp>
        <p:nvSpPr>
          <p:cNvPr id="54" name="Google Shape;54;p10">
            <a:extLst xmlns:a="http://schemas.openxmlformats.org/drawingml/2006/main">
              <a:ext uri="{FF2B5EF4-FFF2-40B4-BE49-F238E27FC236}">
                <a16:creationId xmlns:a16="http://schemas.microsoft.com/office/drawing/2014/main" id="{41F8CFDB-DD40-4A78-8523-55735166A9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37900" y="2103538"/>
            <a:ext cx="6268500" cy="42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58" name="Google Shape;55;p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02049c892410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625" y="4371975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1">
            <a:extLst xmlns:a="http://schemas.openxmlformats.org/drawingml/2006/main">
              <a:ext uri="{FF2B5EF4-FFF2-40B4-BE49-F238E27FC236}">
                <a16:creationId xmlns:a16="http://schemas.microsoft.com/office/drawing/2014/main" id="{E8F9E288-D782-49B2-A18C-394FBC608C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1">
            <a:extLst xmlns:a="http://schemas.openxmlformats.org/drawingml/2006/main">
              <a:ext uri="{FF2B5EF4-FFF2-40B4-BE49-F238E27FC236}">
                <a16:creationId xmlns:a16="http://schemas.microsoft.com/office/drawing/2014/main" id="{92A58223-E2D5-4940-A978-F81ABD29A2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9" name="Google Shape;59;p11">
            <a:extLst xmlns:a="http://schemas.openxmlformats.org/drawingml/2006/main">
              <a:ext uri="{FF2B5EF4-FFF2-40B4-BE49-F238E27FC236}">
                <a16:creationId xmlns:a16="http://schemas.microsoft.com/office/drawing/2014/main" id="{5C5CB666-C648-47BD-8C3D-466EBC5610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2">
            <a:extLst xmlns:a="http://schemas.openxmlformats.org/drawingml/2006/main">
              <a:ext uri="{FF2B5EF4-FFF2-40B4-BE49-F238E27FC236}">
                <a16:creationId xmlns:a16="http://schemas.microsoft.com/office/drawing/2014/main" id="{9BA492F4-84BF-4E6B-BF3A-493F1CDEA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AC7626B2-41AD-4454-BCFB-2895DC6DFE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1A07D9A0-F59B-4C71-849E-5142916518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69" name="Google Shape;69;p14">
            <a:extLst xmlns:a="http://schemas.openxmlformats.org/drawingml/2006/main">
              <a:ext uri="{FF2B5EF4-FFF2-40B4-BE49-F238E27FC236}">
                <a16:creationId xmlns:a16="http://schemas.microsoft.com/office/drawing/2014/main" id="{9527BF61-B08F-4BB1-B1E6-68A3E75E2D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Contenuto generico">
  <p:cSld name="CUSTOM_7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8" name="Google Shape;71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8f5d952864f5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600" y="4360300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B9C0FDF8-2E6B-4B3C-AFEB-4E5F549D399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22475" y="359800"/>
            <a:ext cx="3795000" cy="13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3" name="Google Shape;73;p15">
            <a:extLst xmlns:a="http://schemas.openxmlformats.org/drawingml/2006/main">
              <a:ext uri="{FF2B5EF4-FFF2-40B4-BE49-F238E27FC236}">
                <a16:creationId xmlns:a16="http://schemas.microsoft.com/office/drawing/2014/main" id="{4FFDBDA7-C1C0-44B6-876E-25C81DED7E6D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354088" y="359800"/>
            <a:ext cx="2138400" cy="440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3D"/>
          </a:solidFill>
          <a:ln xmlns:a="http://schemas.openxmlformats.org/drawingml/2006/main">
            <a:noFill/>
          </a:ln>
        </p:spPr>
      </p:sp>
      <p:sp>
        <p:nvSpPr>
          <p:cNvPr id="74" name="Google Shape;74;p15">
            <a:extLst xmlns:a="http://schemas.openxmlformats.org/drawingml/2006/main">
              <a:ext uri="{FF2B5EF4-FFF2-40B4-BE49-F238E27FC236}">
                <a16:creationId xmlns:a16="http://schemas.microsoft.com/office/drawing/2014/main" id="{23623A73-9B2C-4E30-8880-A853CF7421B8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629100" y="359800"/>
            <a:ext cx="2138400" cy="44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5" name="Google Shape;75;p15">
            <a:extLst xmlns:a="http://schemas.openxmlformats.org/drawingml/2006/main">
              <a:ext uri="{FF2B5EF4-FFF2-40B4-BE49-F238E27FC236}">
                <a16:creationId xmlns:a16="http://schemas.microsoft.com/office/drawing/2014/main" id="{17C4800C-032B-4762-9DCB-661A21A1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325" y="1205300"/>
            <a:ext cx="40362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26B2F91C-1E37-430D-8A98-714416CFE2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2475" y="1919100"/>
            <a:ext cx="3795000" cy="227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matchingName="Contatto">
  <p:cSld name="CUSTOM_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BD7215A0-221B-4099-B1CC-29C1073E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875" y="4192800"/>
            <a:ext cx="5872200" cy="950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79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7ec27adb945c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0850" y="4353300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" name="Google Shape;80;p16">
            <a:extLst xmlns:a="http://schemas.openxmlformats.org/drawingml/2006/main">
              <a:ext uri="{FF2B5EF4-FFF2-40B4-BE49-F238E27FC236}">
                <a16:creationId xmlns:a16="http://schemas.microsoft.com/office/drawing/2014/main" id="{221624FB-F719-44DA-A19F-C2C4FF710E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280875" y="0"/>
            <a:ext cx="5863200" cy="435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1" name="Google Shape;81;p16">
            <a:extLst xmlns:a="http://schemas.openxmlformats.org/drawingml/2006/main">
              <a:ext uri="{FF2B5EF4-FFF2-40B4-BE49-F238E27FC236}">
                <a16:creationId xmlns:a16="http://schemas.microsoft.com/office/drawing/2014/main" id="{9882F13C-8695-410A-B377-9C5A5B0A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287300"/>
            <a:ext cx="20112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 b="1">
                <a:solidFill>
                  <a:schemeClr val="dk1"/>
                </a:solidFill>
              </a:rPr>
              <a:t>Contatto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2" name="Google Shape;82;p16">
            <a:extLst xmlns:a="http://schemas.openxmlformats.org/drawingml/2006/main">
              <a:ext uri="{FF2B5EF4-FFF2-40B4-BE49-F238E27FC236}">
                <a16:creationId xmlns:a16="http://schemas.microsoft.com/office/drawing/2014/main" id="{79743461-5057-4BCF-A3C0-FEB9A0DF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1310400"/>
            <a:ext cx="2648700" cy="23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solidFill>
                  <a:schemeClr val="dk1"/>
                </a:solidFill>
              </a:rPr>
              <a:t>Il tuo nome</a:t>
            </a:r>
            <a:br/>
            <a:r>
              <a:rPr>
                <a:solidFill>
                  <a:schemeClr val="dk1"/>
                </a:solidFill>
              </a:rPr>
              <a:t>no_reply@example.com</a:t>
            </a:r>
            <a:endParaRPr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>
                <a:solidFill>
                  <a:schemeClr val="dk1"/>
                </a:solidFill>
              </a:rPr>
              <a:t>Serie completa disponibile su</a:t>
            </a:r>
            <a:br/>
            <a:r>
              <a:rPr i="1">
                <a:solidFill>
                  <a:schemeClr val="dk1"/>
                </a:solidFill>
              </a:rPr>
              <a:t>www.example.com</a:t>
            </a:r>
            <a:endParaRPr sz="1800">
              <a:solidFill>
                <a:schemeClr val="dk2"/>
              </a:solidFill>
            </a:endParaRPr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Spiegazione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8C798203-932B-47D0-B930-AE39861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" y="4108025"/>
            <a:ext cx="9144000" cy="13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7BE9B028-D247-44FE-9598-6BCCFCBF2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6050"/>
            <a:ext cx="8384700" cy="68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6172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91" name="Google Shape;86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92262727d4c5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625" y="4371975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9D0DE445-C6DE-4236-866E-36195D0E96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1225" y="917275"/>
            <a:ext cx="7648800" cy="29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matchingName="Layout personalizzato 1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8">
            <a:extLst xmlns:a="http://schemas.openxmlformats.org/drawingml/2006/main">
              <a:ext uri="{FF2B5EF4-FFF2-40B4-BE49-F238E27FC236}">
                <a16:creationId xmlns:a16="http://schemas.microsoft.com/office/drawing/2014/main" id="{2ACA37F3-9DC3-4D08-BBE2-297C33A5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050" y="4192800"/>
            <a:ext cx="4581000" cy="950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>
            <a:extLst xmlns:a="http://schemas.openxmlformats.org/drawingml/2006/main">
              <a:ext uri="{FF2B5EF4-FFF2-40B4-BE49-F238E27FC236}">
                <a16:creationId xmlns:a16="http://schemas.microsoft.com/office/drawing/2014/main" id="{AF6C8595-F9E7-426A-953F-6C5BB6102BF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-7000"/>
            <a:ext cx="4572000" cy="419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1" name="Google Shape;91;p18">
            <a:extLst xmlns:a="http://schemas.openxmlformats.org/drawingml/2006/main">
              <a:ext uri="{FF2B5EF4-FFF2-40B4-BE49-F238E27FC236}">
                <a16:creationId xmlns:a16="http://schemas.microsoft.com/office/drawing/2014/main" id="{4C4F4C71-C1CA-482D-923B-D033268C45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02025" y="1617500"/>
            <a:ext cx="4267500" cy="95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rgbClr val="AB171A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96" name="Google Shape;92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a5094cedd47b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600" y="4360300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7.xml><?xml version="1.0" encoding="utf-8"?>
<p:sldLayout xmlns:p="http://schemas.openxmlformats.org/presentationml/2006/main" matchingName="Immagini">
  <p:cSld name="CUSTOM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19">
            <a:extLst xmlns:a="http://schemas.openxmlformats.org/drawingml/2006/main">
              <a:ext uri="{FF2B5EF4-FFF2-40B4-BE49-F238E27FC236}">
                <a16:creationId xmlns:a16="http://schemas.microsoft.com/office/drawing/2014/main" id="{DD4763CC-4D59-4F52-BCEE-55DD57FC835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06425" y="364400"/>
            <a:ext cx="3795000" cy="139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9">
            <a:extLst xmlns:a="http://schemas.openxmlformats.org/drawingml/2006/main">
              <a:ext uri="{FF2B5EF4-FFF2-40B4-BE49-F238E27FC236}">
                <a16:creationId xmlns:a16="http://schemas.microsoft.com/office/drawing/2014/main" id="{94C96C42-F2E8-45D5-9755-E666CBCC82EF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33775" y="1886650"/>
            <a:ext cx="3767700" cy="285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6" name="Google Shape;96;p19">
            <a:extLst xmlns:a="http://schemas.openxmlformats.org/drawingml/2006/main">
              <a:ext uri="{FF2B5EF4-FFF2-40B4-BE49-F238E27FC236}">
                <a16:creationId xmlns:a16="http://schemas.microsoft.com/office/drawing/2014/main" id="{12B79596-E216-4EA9-A569-A93D4281441B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56075" y="364400"/>
            <a:ext cx="2146500" cy="438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7" name="Google Shape;97;p19">
            <a:extLst xmlns:a="http://schemas.openxmlformats.org/drawingml/2006/main">
              <a:ext uri="{FF2B5EF4-FFF2-40B4-BE49-F238E27FC236}">
                <a16:creationId xmlns:a16="http://schemas.microsoft.com/office/drawing/2014/main" id="{5BE1DC9E-2FD4-4DB1-BBF4-E17832D05C35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6629825" y="364400"/>
            <a:ext cx="2146500" cy="438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8.xml><?xml version="1.0" encoding="utf-8"?>
<p:sldLayout xmlns:p="http://schemas.openxmlformats.org/presentationml/2006/main" matchingName="Titolo,sottotitolo e testo">
  <p:cSld name="CUSTOM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20">
            <a:extLst xmlns:a="http://schemas.openxmlformats.org/drawingml/2006/main">
              <a:ext uri="{FF2B5EF4-FFF2-40B4-BE49-F238E27FC236}">
                <a16:creationId xmlns:a16="http://schemas.microsoft.com/office/drawing/2014/main" id="{D11E2392-FC80-4F2C-8BBB-11A40F27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4572300" cy="499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>
            <a:extLst xmlns:a="http://schemas.openxmlformats.org/drawingml/2006/main">
              <a:ext uri="{FF2B5EF4-FFF2-40B4-BE49-F238E27FC236}">
                <a16:creationId xmlns:a16="http://schemas.microsoft.com/office/drawing/2014/main" id="{30160773-1ED2-4EA5-9BCB-842E9E1ADA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3450" y="724200"/>
            <a:ext cx="3622800" cy="189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rgbClr val="0D071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20">
            <a:extLst xmlns:a="http://schemas.openxmlformats.org/drawingml/2006/main">
              <a:ext uri="{FF2B5EF4-FFF2-40B4-BE49-F238E27FC236}">
                <a16:creationId xmlns:a16="http://schemas.microsoft.com/office/drawing/2014/main" id="{DC2E21CB-DF72-4CCA-AF5B-46FF58A4CB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3450" y="2702400"/>
            <a:ext cx="3987300" cy="63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i="1">
                <a:solidFill>
                  <a:srgbClr val="5E696C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08" name="Google Shape;102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39c8fa2ee4f4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600" y="4360300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20">
            <a:extLst xmlns:a="http://schemas.openxmlformats.org/drawingml/2006/main">
              <a:ext uri="{FF2B5EF4-FFF2-40B4-BE49-F238E27FC236}">
                <a16:creationId xmlns:a16="http://schemas.microsoft.com/office/drawing/2014/main" id="{01F1133F-53CA-4157-8088-2B86309430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5450" y="779700"/>
            <a:ext cx="3845400" cy="358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matchingName="Diapositiva classica">
  <p:cSld name="CUSTOM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21">
            <a:extLst xmlns:a="http://schemas.openxmlformats.org/drawingml/2006/main">
              <a:ext uri="{FF2B5EF4-FFF2-40B4-BE49-F238E27FC236}">
                <a16:creationId xmlns:a16="http://schemas.microsoft.com/office/drawing/2014/main" id="{86FC374E-B394-4116-B0B9-E062DA39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" y="4108025"/>
            <a:ext cx="9144000" cy="13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06;p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e1884fc6f498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625" y="4371975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" name="Google Shape;107;p21">
            <a:extLst xmlns:a="http://schemas.openxmlformats.org/drawingml/2006/main">
              <a:ext uri="{FF2B5EF4-FFF2-40B4-BE49-F238E27FC236}">
                <a16:creationId xmlns:a16="http://schemas.microsoft.com/office/drawing/2014/main" id="{0FAA4E52-E4D1-404B-97ED-6271E7BEA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63075"/>
            <a:ext cx="8608800" cy="42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6172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1">
            <a:extLst xmlns:a="http://schemas.openxmlformats.org/drawingml/2006/main">
              <a:ext uri="{FF2B5EF4-FFF2-40B4-BE49-F238E27FC236}">
                <a16:creationId xmlns:a16="http://schemas.microsoft.com/office/drawing/2014/main" id="{3EDE6DCB-D2B4-40E9-B039-6CA5ACEDE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88900"/>
            <a:ext cx="8608800" cy="251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marR="0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rgbClr val="5E696C"/>
                </a:solidFill>
                <a:latin typeface="Lato"/>
                <a:ea typeface="Lato"/>
                <a:cs typeface="Lato"/>
              </a:defRPr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matchingName="Titolo 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22">
            <a:extLst xmlns:a="http://schemas.openxmlformats.org/drawingml/2006/main">
              <a:ext uri="{FF2B5EF4-FFF2-40B4-BE49-F238E27FC236}">
                <a16:creationId xmlns:a16="http://schemas.microsoft.com/office/drawing/2014/main" id="{5B24B324-82AE-40B0-8D8A-27688E97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" y="0"/>
            <a:ext cx="9144000" cy="42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1D3D"/>
              </a:solidFill>
            </a:endParaRPr>
          </a:p>
        </p:txBody>
      </p:sp>
      <p:sp>
        <p:nvSpPr>
          <p:cNvPr id="111" name="Google Shape;111;p22">
            <a:extLst xmlns:a="http://schemas.openxmlformats.org/drawingml/2006/main">
              <a:ext uri="{FF2B5EF4-FFF2-40B4-BE49-F238E27FC236}">
                <a16:creationId xmlns:a16="http://schemas.microsoft.com/office/drawing/2014/main" id="{7A51DF9A-DE9E-44D0-B942-B16ADC4F9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37900" y="2103538"/>
            <a:ext cx="6268500" cy="42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15" name="Google Shape;112;p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8d2cd0e854e6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625" y="4371975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1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23">
            <a:extLst xmlns:a="http://schemas.openxmlformats.org/drawingml/2006/main">
              <a:ext uri="{FF2B5EF4-FFF2-40B4-BE49-F238E27FC236}">
                <a16:creationId xmlns:a16="http://schemas.microsoft.com/office/drawing/2014/main" id="{AF07C0A3-B8A6-4640-9A4F-B0291C12D4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15" name="Google Shape;115;p23">
            <a:extLst xmlns:a="http://schemas.openxmlformats.org/drawingml/2006/main">
              <a:ext uri="{FF2B5EF4-FFF2-40B4-BE49-F238E27FC236}">
                <a16:creationId xmlns:a16="http://schemas.microsoft.com/office/drawing/2014/main" id="{39D51E70-1A0A-4CB7-91C0-7138C9063A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16" name="Google Shape;116;p23">
            <a:extLst xmlns:a="http://schemas.openxmlformats.org/drawingml/2006/main">
              <a:ext uri="{FF2B5EF4-FFF2-40B4-BE49-F238E27FC236}">
                <a16:creationId xmlns:a16="http://schemas.microsoft.com/office/drawing/2014/main" id="{B7F93A75-2A23-4BAE-B526-89D10EBFF7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24">
            <a:extLst xmlns:a="http://schemas.openxmlformats.org/drawingml/2006/main">
              <a:ext uri="{FF2B5EF4-FFF2-40B4-BE49-F238E27FC236}">
                <a16:creationId xmlns:a16="http://schemas.microsoft.com/office/drawing/2014/main" id="{53A79F5F-BFC4-4AC0-8217-6CF8014CC5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0963495fd4215" /><Relationship Type="http://schemas.openxmlformats.org/officeDocument/2006/relationships/slideLayout" Target="/ppt/slideLayouts/slideLayout1.xml" Id="R4712b1127ecf4443" /><Relationship Type="http://schemas.openxmlformats.org/officeDocument/2006/relationships/slideLayout" Target="/ppt/slideLayouts/slideLayout2.xml" Id="R935e7378110b407b" /><Relationship Type="http://schemas.openxmlformats.org/officeDocument/2006/relationships/slideLayout" Target="/ppt/slideLayouts/slideLayout3.xml" Id="R27aac41cca2b44e1" /><Relationship Type="http://schemas.openxmlformats.org/officeDocument/2006/relationships/slideLayout" Target="/ppt/slideLayouts/slideLayout4.xml" Id="R4c8259be4b234768" /><Relationship Type="http://schemas.openxmlformats.org/officeDocument/2006/relationships/slideLayout" Target="/ppt/slideLayouts/slideLayout5.xml" Id="R27e80d54ea274629" /><Relationship Type="http://schemas.openxmlformats.org/officeDocument/2006/relationships/slideLayout" Target="/ppt/slideLayouts/slideLayout6.xml" Id="R5368c50a7ace42ae" /><Relationship Type="http://schemas.openxmlformats.org/officeDocument/2006/relationships/slideLayout" Target="/ppt/slideLayouts/slideLayout7.xml" Id="Racb4e872810349e7" /><Relationship Type="http://schemas.openxmlformats.org/officeDocument/2006/relationships/slideLayout" Target="/ppt/slideLayouts/slideLayout8.xml" Id="R56d5dda6e59f4918" /><Relationship Type="http://schemas.openxmlformats.org/officeDocument/2006/relationships/slideLayout" Target="/ppt/slideLayouts/slideLayout9.xml" Id="Rd025e3f78b4844cc" /><Relationship Type="http://schemas.openxmlformats.org/officeDocument/2006/relationships/slideLayout" Target="/ppt/slideLayouts/slideLayout10.xml" Id="R6fb3a348bb1d4195" /><Relationship Type="http://schemas.openxmlformats.org/officeDocument/2006/relationships/slideLayout" Target="/ppt/slideLayouts/slideLayout11.xml" Id="Rc16524437dd94a3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edfcf723bad41e1" /><Relationship Type="http://schemas.openxmlformats.org/officeDocument/2006/relationships/slideLayout" Target="/ppt/slideLayouts/slideLayout12.xml" Id="R276a68cff5084370" /><Relationship Type="http://schemas.openxmlformats.org/officeDocument/2006/relationships/slideLayout" Target="/ppt/slideLayouts/slideLayout13.xml" Id="R2d966b01ccc74124" /><Relationship Type="http://schemas.openxmlformats.org/officeDocument/2006/relationships/slideLayout" Target="/ppt/slideLayouts/slideLayout14.xml" Id="R05c717fa0cc7496d" /><Relationship Type="http://schemas.openxmlformats.org/officeDocument/2006/relationships/slideLayout" Target="/ppt/slideLayouts/slideLayout15.xml" Id="R26d641a3f33645b4" /><Relationship Type="http://schemas.openxmlformats.org/officeDocument/2006/relationships/slideLayout" Target="/ppt/slideLayouts/slideLayout16.xml" Id="Rd5973f49dab44bc2" /><Relationship Type="http://schemas.openxmlformats.org/officeDocument/2006/relationships/slideLayout" Target="/ppt/slideLayouts/slideLayout17.xml" Id="Rccd93b8330184464" /><Relationship Type="http://schemas.openxmlformats.org/officeDocument/2006/relationships/slideLayout" Target="/ppt/slideLayouts/slideLayout18.xml" Id="R06a95412463f4c2e" /><Relationship Type="http://schemas.openxmlformats.org/officeDocument/2006/relationships/slideLayout" Target="/ppt/slideLayouts/slideLayout19.xml" Id="R7d05abc7a8a44acc" /><Relationship Type="http://schemas.openxmlformats.org/officeDocument/2006/relationships/slideLayout" Target="/ppt/slideLayouts/slideLayout20.xml" Id="R3e1e5896507746b6" /><Relationship Type="http://schemas.openxmlformats.org/officeDocument/2006/relationships/slideLayout" Target="/ppt/slideLayouts/slideLayout21.xml" Id="R5d30a1bc6569428e" /><Relationship Type="http://schemas.openxmlformats.org/officeDocument/2006/relationships/slideLayout" Target="/ppt/slideLayouts/slideLayout22.xml" Id="Rb3201cf67a61446f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857CE1F3-9DBB-415E-8A6A-2355E0C2A8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2E3C7B8-AD90-4BFC-8C7E-71D3945DFC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F7726DD0-A827-4710-969A-89DC0DF47B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12b1127ecf4443"/>
    <p:sldLayoutId xmlns:r="http://schemas.openxmlformats.org/officeDocument/2006/relationships" id="2147483650" r:id="R935e7378110b407b"/>
    <p:sldLayoutId xmlns:r="http://schemas.openxmlformats.org/officeDocument/2006/relationships" id="2147483651" r:id="R27aac41cca2b44e1"/>
    <p:sldLayoutId xmlns:r="http://schemas.openxmlformats.org/officeDocument/2006/relationships" id="2147483652" r:id="R4c8259be4b234768"/>
    <p:sldLayoutId xmlns:r="http://schemas.openxmlformats.org/officeDocument/2006/relationships" id="2147483653" r:id="R27e80d54ea274629"/>
    <p:sldLayoutId xmlns:r="http://schemas.openxmlformats.org/officeDocument/2006/relationships" id="2147483654" r:id="R5368c50a7ace42ae"/>
    <p:sldLayoutId xmlns:r="http://schemas.openxmlformats.org/officeDocument/2006/relationships" id="2147483655" r:id="Racb4e872810349e7"/>
    <p:sldLayoutId xmlns:r="http://schemas.openxmlformats.org/officeDocument/2006/relationships" id="2147483656" r:id="R56d5dda6e59f4918"/>
    <p:sldLayoutId xmlns:r="http://schemas.openxmlformats.org/officeDocument/2006/relationships" id="2147483657" r:id="Rd025e3f78b4844cc"/>
    <p:sldLayoutId xmlns:r="http://schemas.openxmlformats.org/officeDocument/2006/relationships" id="2147483658" r:id="R6fb3a348bb1d4195"/>
    <p:sldLayoutId xmlns:r="http://schemas.openxmlformats.org/officeDocument/2006/relationships" id="2147483659" r:id="Rc16524437dd94a3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9A677CA9-2F9D-405D-AD0F-A0B6DCB61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D266B921-27D2-4975-8ED9-945733BA2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5" name="Google Shape;65;p13">
            <a:extLst xmlns:a="http://schemas.openxmlformats.org/drawingml/2006/main">
              <a:ext uri="{FF2B5EF4-FFF2-40B4-BE49-F238E27FC236}">
                <a16:creationId xmlns:a16="http://schemas.microsoft.com/office/drawing/2014/main" id="{0A600149-3251-4210-AA03-637C477DA0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76a68cff5084370"/>
    <p:sldLayoutId xmlns:r="http://schemas.openxmlformats.org/officeDocument/2006/relationships" id="2147483662" r:id="R2d966b01ccc74124"/>
    <p:sldLayoutId xmlns:r="http://schemas.openxmlformats.org/officeDocument/2006/relationships" id="2147483663" r:id="R05c717fa0cc7496d"/>
    <p:sldLayoutId xmlns:r="http://schemas.openxmlformats.org/officeDocument/2006/relationships" id="2147483664" r:id="R26d641a3f33645b4"/>
    <p:sldLayoutId xmlns:r="http://schemas.openxmlformats.org/officeDocument/2006/relationships" id="2147483665" r:id="Rd5973f49dab44bc2"/>
    <p:sldLayoutId xmlns:r="http://schemas.openxmlformats.org/officeDocument/2006/relationships" id="2147483666" r:id="Rccd93b8330184464"/>
    <p:sldLayoutId xmlns:r="http://schemas.openxmlformats.org/officeDocument/2006/relationships" id="2147483667" r:id="R06a95412463f4c2e"/>
    <p:sldLayoutId xmlns:r="http://schemas.openxmlformats.org/officeDocument/2006/relationships" id="2147483668" r:id="R7d05abc7a8a44acc"/>
    <p:sldLayoutId xmlns:r="http://schemas.openxmlformats.org/officeDocument/2006/relationships" id="2147483669" r:id="R3e1e5896507746b6"/>
    <p:sldLayoutId xmlns:r="http://schemas.openxmlformats.org/officeDocument/2006/relationships" id="2147483670" r:id="R5d30a1bc6569428e"/>
    <p:sldLayoutId xmlns:r="http://schemas.openxmlformats.org/officeDocument/2006/relationships" id="2147483671" r:id="Rb3201cf67a61446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048d44f750a424e" /><Relationship Type="http://schemas.openxmlformats.org/officeDocument/2006/relationships/image" Target="/ppt/media/image.png" Id="Rc59413b7e29f4867" /><Relationship Type="http://schemas.openxmlformats.org/officeDocument/2006/relationships/notesSlide" Target="/ppt/notesSlides/notesSlide1.xml" Id="Rff09b2a47cab44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5120b914556443be" /><Relationship Type="http://schemas.openxmlformats.org/officeDocument/2006/relationships/notesSlide" Target="/ppt/notesSlides/notesSlide2.xml" Id="R428a883dce074b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5aed94f28a747ea" /><Relationship Type="http://schemas.openxmlformats.org/officeDocument/2006/relationships/notesSlide" Target="/ppt/notesSlides/notesSlide3.xml" Id="Re5bad99435384b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db8a60b701b4b80" /><Relationship Type="http://schemas.openxmlformats.org/officeDocument/2006/relationships/notesSlide" Target="/ppt/notesSlides/notesSlide4.xml" Id="R521c44e1a7a84b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b407e82f0fb4a4c" /><Relationship Type="http://schemas.openxmlformats.org/officeDocument/2006/relationships/notesSlide" Target="/ppt/notesSlides/notesSlide5.xml" Id="R9f80ed96237140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de38bed484f4627" /><Relationship Type="http://schemas.openxmlformats.org/officeDocument/2006/relationships/notesSlide" Target="/ppt/notesSlides/notesSlide6.xml" Id="R20dfb92ac3e5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ada785174794056" /><Relationship Type="http://schemas.openxmlformats.org/officeDocument/2006/relationships/notesSlide" Target="/ppt/notesSlides/notesSlide7.xml" Id="R1cf04e524c2645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4a1b505e56d4ebc" /><Relationship Type="http://schemas.openxmlformats.org/officeDocument/2006/relationships/notesSlide" Target="/ppt/notesSlides/notesSlide8.xml" Id="R620a96fade094f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ab0d56b258449ec" /><Relationship Type="http://schemas.openxmlformats.org/officeDocument/2006/relationships/notesSlide" Target="/ppt/notesSlides/notesSlide9.xml" Id="Re4448db1d04e4e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1db197537a9447d" /><Relationship Type="http://schemas.openxmlformats.org/officeDocument/2006/relationships/notesSlide" Target="/ppt/notesSlides/notesSlide10.xml" Id="R5850824d7a774d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b0be8c806184289" /><Relationship Type="http://schemas.openxmlformats.org/officeDocument/2006/relationships/notesSlide" Target="/ppt/notesSlides/notesSlide11.xml" Id="Rbc51c15b809c4c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df53b78a36f44f7" /><Relationship Type="http://schemas.openxmlformats.org/officeDocument/2006/relationships/notesSlide" Target="/ppt/notesSlides/notesSlide12.xml" Id="R7d4b010c3c6d42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a0bcbae078e4b57" /><Relationship Type="http://schemas.openxmlformats.org/officeDocument/2006/relationships/notesSlide" Target="/ppt/notesSlides/notesSlide13.xml" Id="Rf7f71bbadd8347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4d1cb0e301d490f" /><Relationship Type="http://schemas.openxmlformats.org/officeDocument/2006/relationships/notesSlide" Target="/ppt/notesSlides/notesSlide14.xml" Id="R75a3cc95870e43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30512faaf484ad4" /><Relationship Type="http://schemas.openxmlformats.org/officeDocument/2006/relationships/notesSlide" Target="/ppt/notesSlides/notesSlide15.xml" Id="Rf9d7f5cf68a74c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74eb2776fa14490" /><Relationship Type="http://schemas.openxmlformats.org/officeDocument/2006/relationships/notesSlide" Target="/ppt/notesSlides/notesSlide16.xml" Id="R2a306b51ef8c44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5079f5d080e4ef4" /><Relationship Type="http://schemas.openxmlformats.org/officeDocument/2006/relationships/notesSlide" Target="/ppt/notesSlides/notesSlide17.xml" Id="R581958eadb1b4e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6a28ce0ba574734" /><Relationship Type="http://schemas.openxmlformats.org/officeDocument/2006/relationships/notesSlide" Target="/ppt/notesSlides/notesSlide18.xml" Id="R4561b99f534c4e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8411ef6505c4be9" /><Relationship Type="http://schemas.openxmlformats.org/officeDocument/2006/relationships/image" Target="/ppt/media/image2.png" Id="R0eec54a6bc1e43ab" /><Relationship Type="http://schemas.openxmlformats.org/officeDocument/2006/relationships/image" Target="/ppt/media/image3.png" Id="Re0a165778db14718" /><Relationship Type="http://schemas.openxmlformats.org/officeDocument/2006/relationships/notesSlide" Target="/ppt/notesSlides/notesSlide19.xml" Id="R58c8bc1b5f1545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52a08a38e03418b" /><Relationship Type="http://schemas.openxmlformats.org/officeDocument/2006/relationships/image" Target="/ppt/media/image4.png" Id="Ra5611a20617a477f" /><Relationship Type="http://schemas.openxmlformats.org/officeDocument/2006/relationships/image" Target="/ppt/media/image5.png" Id="Rb3c74f85574c42dd" /><Relationship Type="http://schemas.openxmlformats.org/officeDocument/2006/relationships/notesSlide" Target="/ppt/notesSlides/notesSlide20.xml" Id="R9f2df1f894a34a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9651d592e0ad498c" /><Relationship Type="http://schemas.openxmlformats.org/officeDocument/2006/relationships/notesSlide" Target="/ppt/notesSlides/notesSlide21.xml" Id="R77cd4640ea0845a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bdbd1eddae44658" /><Relationship Type="http://schemas.openxmlformats.org/officeDocument/2006/relationships/image" Target="/ppt/media/image.jpeg" Id="Rbc377bc67f224599" /><Relationship Type="http://schemas.openxmlformats.org/officeDocument/2006/relationships/notesSlide" Target="/ppt/notesSlides/notesSlide22.xml" Id="R7389723246aa41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2d13d28e2774367" /><Relationship Type="http://schemas.openxmlformats.org/officeDocument/2006/relationships/image" Target="/ppt/media/image6.png" Id="Re57211fd485d44ba" /><Relationship Type="http://schemas.openxmlformats.org/officeDocument/2006/relationships/image" Target="/ppt/media/image7.png" Id="R2f7d4c32dbc04d7e" /><Relationship Type="http://schemas.openxmlformats.org/officeDocument/2006/relationships/notesSlide" Target="/ppt/notesSlides/notesSlide23.xml" Id="Rb6352b9dc87442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777b03e8d4646c8" /><Relationship Type="http://schemas.openxmlformats.org/officeDocument/2006/relationships/notesSlide" Target="/ppt/notesSlides/notesSlide24.xml" Id="Re223561cf32a43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b1711d8d24343ae" /><Relationship Type="http://schemas.openxmlformats.org/officeDocument/2006/relationships/notesSlide" Target="/ppt/notesSlides/notesSlide25.xml" Id="R328d6ba98c3d49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0aec87493fb42e2" /><Relationship Type="http://schemas.openxmlformats.org/officeDocument/2006/relationships/notesSlide" Target="/ppt/notesSlides/notesSlide26.xml" Id="R1b7370b975d24d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79f9954a22b4bcd" /><Relationship Type="http://schemas.openxmlformats.org/officeDocument/2006/relationships/notesSlide" Target="/ppt/notesSlides/notesSlide27.xml" Id="R40805833f0b244f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4e5f341cd644522" /><Relationship Type="http://schemas.openxmlformats.org/officeDocument/2006/relationships/notesSlide" Target="/ppt/notesSlides/notesSlide28.xml" Id="Raf9e96922812421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9579bde4dff4eda" /><Relationship Type="http://schemas.openxmlformats.org/officeDocument/2006/relationships/image" Target="/ppt/media/image8.png" Id="R9be3f2f795924b8c" /><Relationship Type="http://schemas.openxmlformats.org/officeDocument/2006/relationships/image" Target="/ppt/media/image9.png" Id="R6d2cb31bd1744ec4" /><Relationship Type="http://schemas.openxmlformats.org/officeDocument/2006/relationships/notesSlide" Target="/ppt/notesSlides/notesSlide29.xml" Id="R85c80449298f4b6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deb350f90cd4cda" /><Relationship Type="http://schemas.openxmlformats.org/officeDocument/2006/relationships/image" Target="/ppt/media/image10.png" Id="Recab20e4b5bd42bf" /><Relationship Type="http://schemas.openxmlformats.org/officeDocument/2006/relationships/image" Target="/ppt/media/image11.png" Id="R59151a1918724468" /><Relationship Type="http://schemas.openxmlformats.org/officeDocument/2006/relationships/notesSlide" Target="/ppt/notesSlides/notesSlide30.xml" Id="R4158af50f95b4fc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f91622b9a614387" /><Relationship Type="http://schemas.openxmlformats.org/officeDocument/2006/relationships/notesSlide" Target="/ppt/notesSlides/notesSlide31.xml" Id="R56a21e781931474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a0313334d3b418f" /><Relationship Type="http://schemas.openxmlformats.org/officeDocument/2006/relationships/notesSlide" Target="/ppt/notesSlides/notesSlide32.xml" Id="Re7e3019ea49748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26">
            <a:extLst xmlns:a="http://schemas.openxmlformats.org/drawingml/2006/main">
              <a:ext uri="{FF2B5EF4-FFF2-40B4-BE49-F238E27FC236}">
                <a16:creationId xmlns:a16="http://schemas.microsoft.com/office/drawing/2014/main" id="{535598F5-7E45-4B5A-AEC3-D749111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4572300" cy="499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6">
            <a:extLst xmlns:a="http://schemas.openxmlformats.org/drawingml/2006/main">
              <a:ext uri="{FF2B5EF4-FFF2-40B4-BE49-F238E27FC236}">
                <a16:creationId xmlns:a16="http://schemas.microsoft.com/office/drawing/2014/main" id="{8EE1D599-D80A-43BF-BF0D-684525F9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00" y="2845201"/>
            <a:ext cx="4045200" cy="134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i="1">
              <a:solidFill>
                <a:srgbClr val="5E696C"/>
              </a:solidFill>
            </a:endParaRPr>
          </a:p>
        </p:txBody>
      </p:sp>
      <p:pic>
        <p:nvPicPr>
          <p:cNvPr id="158" name="Google Shape;137;p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413b7e29f486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6725" y="4353300"/>
            <a:ext cx="1462748" cy="637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1" name="Logica e&#10;Dogana Booleana">
            <a:extLst xmlns:a="http://schemas.openxmlformats.org/drawingml/2006/main">
              <a:ext uri="{FF2B5EF4-FFF2-40B4-BE49-F238E27FC236}">
                <a16:creationId xmlns:a16="http://schemas.microsoft.com/office/drawing/2014/main" id="{02DD7E0C-DBC5-4BC0-A6E4-FB344AC1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90625"/>
            <a:ext cx="38766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Logica e</a:t>
            </a:r>
          </a:p>
          <a:p xmlns:a="http://schemas.openxmlformats.org/drawingml/2006/main">
            <a:pPr algn="ctr">
              <a:defRPr sz="3225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Dogana Booleana</a:t>
            </a:r>
          </a:p>
        </p:txBody>
      </p:sp>
      <p:sp>
        <p:nvSpPr>
          <p:cNvPr id="152" name="1ª Liceo&#10;25 settembre 2026">
            <a:extLst xmlns:a="http://schemas.openxmlformats.org/drawingml/2006/main">
              <a:ext uri="{FF2B5EF4-FFF2-40B4-BE49-F238E27FC236}">
                <a16:creationId xmlns:a16="http://schemas.microsoft.com/office/drawing/2014/main" id="{2334AC74-3A57-423E-BA95-7F80BDBC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1ª Liceo</a:t>
            </a:r>
          </a:p>
          <a:p xmlns:a="http://schemas.openxmlformats.org/drawingml/2006/main">
            <a:pPr algn="ctr">
              <a:defRPr sz="17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25 settembre 2026</a:t>
            </a:r>
          </a:p>
        </p:txBody>
      </p:sp>
      <p:sp>
        <p:nvSpPr>
          <p:cNvPr id="153" name="Speedrun su carta">
            <a:extLst xmlns:a="http://schemas.openxmlformats.org/drawingml/2006/main">
              <a:ext uri="{FF2B5EF4-FFF2-40B4-BE49-F238E27FC236}">
                <a16:creationId xmlns:a16="http://schemas.microsoft.com/office/drawing/2014/main" id="{E355735B-A5EC-42E6-A86C-EE9F40C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04925"/>
            <a:ext cx="3962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Speedrun su carta</a:t>
            </a:r>
          </a:p>
        </p:txBody>
      </p:sp>
      <p:sp>
        <p:nvSpPr>
          <p:cNvPr id="154" name="AND, OR e il nuovo NOT">
            <a:extLst xmlns:a="http://schemas.openxmlformats.org/drawingml/2006/main">
              <a:ext uri="{FF2B5EF4-FFF2-40B4-BE49-F238E27FC236}">
                <a16:creationId xmlns:a16="http://schemas.microsoft.com/office/drawing/2014/main" id="{F7CD8F8A-C3C5-40F9-89E2-0104090E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52650"/>
            <a:ext cx="3962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AND, OR e il nuovo NOT</a:t>
            </a:r>
          </a:p>
        </p:txBody>
      </p:sp>
      <p:sp>
        <p:nvSpPr>
          <p:cNvPr id="155" name="Una regola per ogni ingresso">
            <a:extLst xmlns:a="http://schemas.openxmlformats.org/drawingml/2006/main">
              <a:ext uri="{FF2B5EF4-FFF2-40B4-BE49-F238E27FC236}">
                <a16:creationId xmlns:a16="http://schemas.microsoft.com/office/drawing/2014/main" id="{21F928BC-F438-4C23-90DA-FB3C804F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00375"/>
            <a:ext cx="3962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regola per ogni ingresso</a:t>
            </a:r>
          </a:p>
        </p:txBody>
      </p:sp>
    </p:spTree>
    <p:extLst>
      <p:ext uri="{BB962C8B-B14F-4D97-AF65-F5344CB8AC3E}">
        <p14:creationId xmlns:p14="http://schemas.microsoft.com/office/powerpoint/2010/main" val="6805614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«Veloce e bene&#10;non vanno insieme»">
            <a:extLst xmlns:a="http://schemas.openxmlformats.org/drawingml/2006/main">
              <a:ext uri="{FF2B5EF4-FFF2-40B4-BE49-F238E27FC236}">
                <a16:creationId xmlns:a16="http://schemas.microsoft.com/office/drawing/2014/main" id="{94582C57-B431-41F8-845F-F3941D07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8096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«Veloce e bene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non vanno insieme»</a:t>
            </a:r>
          </a:p>
        </p:txBody>
      </p:sp>
    </p:spTree>
    <p:extLst>
      <p:ext uri="{BB962C8B-B14F-4D97-AF65-F5344CB8AC3E}">
        <p14:creationId xmlns:p14="http://schemas.microsoft.com/office/powerpoint/2010/main" val="12479751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 tu, di che team sei?">
            <a:extLst xmlns:a="http://schemas.openxmlformats.org/drawingml/2006/main">
              <a:ext uri="{FF2B5EF4-FFF2-40B4-BE49-F238E27FC236}">
                <a16:creationId xmlns:a16="http://schemas.microsoft.com/office/drawing/2014/main" id="{C6140FD7-9A5C-4C1D-8E93-6AACB7A4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E tu, di che team sei?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143000"/>
          <a:ext xmlns:a="http://schemas.openxmlformats.org/drawingml/2006/main" cx="8039100" cy="2257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4019550"/>
              </a:tblGrid>
              <a:tr h="564356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Team Quantità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Team Serie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Più esercizi completati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Più corretti consecutivi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Segno anche quanti sono corretti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Un errore azzera la serie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Obiettivo: avanzare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Obiettivo: continuità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La correttezza conta in entrambi i team.">
            <a:extLst xmlns:a="http://schemas.openxmlformats.org/drawingml/2006/main">
              <a:ext uri="{FF2B5EF4-FFF2-40B4-BE49-F238E27FC236}">
                <a16:creationId xmlns:a16="http://schemas.microsoft.com/office/drawing/2014/main" id="{B9B858D7-F85B-43CD-81FF-18D38DBB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03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La correttezza conta in entrambi i team.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peedrun: somme e moltiplicazioni">
            <a:extLst xmlns:a="http://schemas.openxmlformats.org/drawingml/2006/main">
              <a:ext uri="{FF2B5EF4-FFF2-40B4-BE49-F238E27FC236}">
                <a16:creationId xmlns:a16="http://schemas.microsoft.com/office/drawing/2014/main" id="{FDD64C43-E26C-4BD8-A3CE-E81AA46A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Speedrun: somme e moltiplicazioni</a:t>
            </a:r>
          </a:p>
        </p:txBody>
      </p:sp>
      <p:sp>
        <p:nvSpPr>
          <p:cNvPr id="2" name="Scrivi il tuo team sul foglio.">
            <a:extLst xmlns:a="http://schemas.openxmlformats.org/drawingml/2006/main">
              <a:ext uri="{FF2B5EF4-FFF2-40B4-BE49-F238E27FC236}">
                <a16:creationId xmlns:a16="http://schemas.microsoft.com/office/drawing/2014/main" id="{0A1CD82B-983E-48B1-8798-01859064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Scrivi il tuo team sul foglio.</a:t>
            </a:r>
          </a:p>
        </p:txBody>
      </p:sp>
      <p:sp>
        <p:nvSpPr>
          <p:cNvPr id="3" name="Usa la scheda del docente e segui l’ordine degli esercizi.">
            <a:extLst xmlns:a="http://schemas.openxmlformats.org/drawingml/2006/main">
              <a:ext uri="{FF2B5EF4-FFF2-40B4-BE49-F238E27FC236}">
                <a16:creationId xmlns:a16="http://schemas.microsoft.com/office/drawing/2014/main" id="{1431B187-D778-432D-A216-014FAC1A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Usa la scheda del docente e segui l’ordine degli esercizi.</a:t>
            </a:r>
          </a:p>
        </p:txBody>
      </p:sp>
      <p:sp>
        <p:nvSpPr>
          <p:cNvPr id="4" name="Mostra riporti e prodotti parziali.">
            <a:extLst xmlns:a="http://schemas.openxmlformats.org/drawingml/2006/main">
              <a:ext uri="{FF2B5EF4-FFF2-40B4-BE49-F238E27FC236}">
                <a16:creationId xmlns:a16="http://schemas.microsoft.com/office/drawing/2014/main" id="{F1AF925A-5A0F-42FF-B63D-5E55922F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Mostra riporti e prodotti parziali.</a:t>
            </a:r>
          </a:p>
        </p:txBody>
      </p:sp>
      <p:sp>
        <p:nvSpPr>
          <p:cNvPr id="5" name="Al termine: completati, corretti e serie migliore.">
            <a:extLst xmlns:a="http://schemas.openxmlformats.org/drawingml/2006/main">
              <a:ext uri="{FF2B5EF4-FFF2-40B4-BE49-F238E27FC236}">
                <a16:creationId xmlns:a16="http://schemas.microsoft.com/office/drawing/2014/main" id="{6E1C2955-BB45-4A6B-8DB9-76F2E1C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Al termine: completati, corretti e serie migliore.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m’è andata la provocazione?">
            <a:extLst xmlns:a="http://schemas.openxmlformats.org/drawingml/2006/main">
              <a:ext uri="{FF2B5EF4-FFF2-40B4-BE49-F238E27FC236}">
                <a16:creationId xmlns:a16="http://schemas.microsoft.com/office/drawing/2014/main" id="{7A92E57A-F3BB-41C5-AE1D-58031835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Com’è andata la provocazione?</a:t>
            </a:r>
          </a:p>
        </p:txBody>
      </p:sp>
      <p:sp>
        <p:nvSpPr>
          <p:cNvPr id="2" name="Quanti esercizi hai completato? Quanti sono corretti?">
            <a:extLst xmlns:a="http://schemas.openxmlformats.org/drawingml/2006/main">
              <a:ext uri="{FF2B5EF4-FFF2-40B4-BE49-F238E27FC236}">
                <a16:creationId xmlns:a16="http://schemas.microsoft.com/office/drawing/2014/main" id="{0D2E737E-23D8-48C6-950C-B65374B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803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Quanti esercizi hai completato? Quanti sono corretti?</a:t>
            </a:r>
          </a:p>
        </p:txBody>
      </p:sp>
      <p:sp>
        <p:nvSpPr>
          <p:cNvPr id="3" name="Qual è stata la tua serie più lunga?">
            <a:extLst xmlns:a="http://schemas.openxmlformats.org/drawingml/2006/main">
              <a:ext uri="{FF2B5EF4-FFF2-40B4-BE49-F238E27FC236}">
                <a16:creationId xmlns:a16="http://schemas.microsoft.com/office/drawing/2014/main" id="{7C8B4445-7693-428B-BF0C-A1033F02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03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Qual è stata la tua serie più lunga?</a:t>
            </a:r>
          </a:p>
        </p:txBody>
      </p:sp>
      <p:sp>
        <p:nvSpPr>
          <p:cNvPr id="4" name="Dove hai perso tempo? Dove hai perso precisione?">
            <a:extLst xmlns:a="http://schemas.openxmlformats.org/drawingml/2006/main">
              <a:ext uri="{FF2B5EF4-FFF2-40B4-BE49-F238E27FC236}">
                <a16:creationId xmlns:a16="http://schemas.microsoft.com/office/drawing/2014/main" id="{435DE8D8-B004-416D-8542-1097F8E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803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Dove hai perso tempo? Dove hai perso precisione?</a:t>
            </a:r>
          </a:p>
        </p:txBody>
      </p:sp>
      <p:sp>
        <p:nvSpPr>
          <p:cNvPr id="5" name="Che cosa cambieresti al prossimo tentativo?">
            <a:extLst xmlns:a="http://schemas.openxmlformats.org/drawingml/2006/main">
              <a:ext uri="{FF2B5EF4-FFF2-40B4-BE49-F238E27FC236}">
                <a16:creationId xmlns:a16="http://schemas.microsoft.com/office/drawing/2014/main" id="{D0BEA07A-0F7F-499E-B842-E5571A10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803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Che cosa cambieresti al prossimo tentativo?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ND (&amp;): servono entrambe">
            <a:extLst xmlns:a="http://schemas.openxmlformats.org/drawingml/2006/main">
              <a:ext uri="{FF2B5EF4-FFF2-40B4-BE49-F238E27FC236}">
                <a16:creationId xmlns:a16="http://schemas.microsoft.com/office/drawing/2014/main" id="{48B0D535-3A46-439D-BE85-3FA0983B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AND (&amp;): servono entrambe</a:t>
            </a:r>
          </a:p>
        </p:txBody>
      </p:sp>
      <p:sp>
        <p:nvSpPr>
          <p:cNvPr id="2" name="Per entrare servono&#10;biglietto E prenotazione.">
            <a:extLst xmlns:a="http://schemas.openxmlformats.org/drawingml/2006/main">
              <a:ext uri="{FF2B5EF4-FFF2-40B4-BE49-F238E27FC236}">
                <a16:creationId xmlns:a16="http://schemas.microsoft.com/office/drawing/2014/main" id="{5C2CA153-DDF5-4850-832F-3D934E89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8039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Per entrare servono</a:t>
            </a:r>
          </a:p>
          <a:p xmlns:a="http://schemas.openxmlformats.org/drawingml/2006/main">
            <a:pPr algn="ctr">
              <a:defRPr sz="2925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biglietto E prenotazione.</a:t>
            </a:r>
          </a:p>
        </p:txBody>
      </p:sp>
      <p:sp>
        <p:nvSpPr>
          <p:cNvPr id="3" name="AND è vero solo quando&#10;le due condizioni sono entrambe vere.">
            <a:extLst xmlns:a="http://schemas.openxmlformats.org/drawingml/2006/main">
              <a:ext uri="{FF2B5EF4-FFF2-40B4-BE49-F238E27FC236}">
                <a16:creationId xmlns:a16="http://schemas.microsoft.com/office/drawing/2014/main" id="{41DC4F75-174C-4F6D-84B4-9DDDA91A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8039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AND è vero solo quando</a:t>
            </a:r>
          </a:p>
          <a:p xmlns:a="http://schemas.openxmlformats.org/drawingml/2006/main">
            <a:pPr algn="ctr">
              <a:defRPr sz="24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le due condizioni sono entrambe vere.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OR (|): basta almeno una">
            <a:extLst xmlns:a="http://schemas.openxmlformats.org/drawingml/2006/main">
              <a:ext uri="{FF2B5EF4-FFF2-40B4-BE49-F238E27FC236}">
                <a16:creationId xmlns:a16="http://schemas.microsoft.com/office/drawing/2014/main" id="{2DBD02E3-E099-440E-9AE7-E7B53B59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OR (|): basta almeno una</a:t>
            </a:r>
          </a:p>
        </p:txBody>
      </p:sp>
      <p:sp>
        <p:nvSpPr>
          <p:cNvPr id="2" name="Sconto per chi è studente&#10;O possiede una tessera.">
            <a:extLst xmlns:a="http://schemas.openxmlformats.org/drawingml/2006/main">
              <a:ext uri="{FF2B5EF4-FFF2-40B4-BE49-F238E27FC236}">
                <a16:creationId xmlns:a16="http://schemas.microsoft.com/office/drawing/2014/main" id="{768A101C-0A47-48F3-8C13-102BF3A4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8039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Sconto per chi è studente</a:t>
            </a:r>
          </a:p>
          <a:p xmlns:a="http://schemas.openxmlformats.org/drawingml/2006/main">
            <a:pPr algn="ctr">
              <a:defRPr sz="2925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O possiede una tessera.</a:t>
            </a:r>
          </a:p>
        </p:txBody>
      </p:sp>
      <p:sp>
        <p:nvSpPr>
          <p:cNvPr id="3" name="Una condizione basta.&#10;Se sono vere entrambe, va bene lo stes">
            <a:extLst xmlns:a="http://schemas.openxmlformats.org/drawingml/2006/main">
              <a:ext uri="{FF2B5EF4-FFF2-40B4-BE49-F238E27FC236}">
                <a16:creationId xmlns:a16="http://schemas.microsoft.com/office/drawing/2014/main" id="{A389EC61-3076-4019-B9C8-D861A29C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81275"/>
            <a:ext cx="803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Una condizione basta.</a:t>
            </a:r>
          </a:p>
          <a:p xmlns:a="http://schemas.openxmlformats.org/drawingml/2006/main">
            <a:pPr algn="ctr">
              <a:defRPr sz="24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Se sono vere entrambe, va bene lo stesso.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ND e OR: tutti i casi">
            <a:extLst xmlns:a="http://schemas.openxmlformats.org/drawingml/2006/main">
              <a:ext uri="{FF2B5EF4-FFF2-40B4-BE49-F238E27FC236}">
                <a16:creationId xmlns:a16="http://schemas.microsoft.com/office/drawing/2014/main" id="{08F520AA-CF11-4283-8C6D-FC21D9B1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AND e OR: tutti i casi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104900"/>
          <a:ext xmlns:a="http://schemas.openxmlformats.org/drawingml/2006/main" cx="80391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9775"/>
                <a:gridCol w="2009775"/>
                <a:gridCol w="2009775"/>
                <a:gridCol w="2009775"/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Seconda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&amp; (AND)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| (OR)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1 = vero     0 = falso     OR è inclusivo">
            <a:extLst xmlns:a="http://schemas.openxmlformats.org/drawingml/2006/main">
              <a:ext uri="{FF2B5EF4-FFF2-40B4-BE49-F238E27FC236}">
                <a16:creationId xmlns:a16="http://schemas.microsoft.com/office/drawing/2014/main" id="{0E785EEE-4BF3-4B4B-A5A5-60BF2339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803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1 = vero     0 = falso     OR è inclusivo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NOT (!): una condizione si capovolge">
            <a:extLst xmlns:a="http://schemas.openxmlformats.org/drawingml/2006/main">
              <a:ext uri="{FF2B5EF4-FFF2-40B4-BE49-F238E27FC236}">
                <a16:creationId xmlns:a16="http://schemas.microsoft.com/office/drawing/2014/main" id="{A5C3AB86-A993-4923-A05D-E1350803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NOT (!): una condizione si capovolge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133475"/>
          <a:ext xmlns:a="http://schemas.openxmlformats.org/drawingml/2006/main" cx="803910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401955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26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Condizione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! condizione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26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26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! vero = falso       ! falso = vero">
            <a:extLst xmlns:a="http://schemas.openxmlformats.org/drawingml/2006/main">
              <a:ext uri="{FF2B5EF4-FFF2-40B4-BE49-F238E27FC236}">
                <a16:creationId xmlns:a16="http://schemas.microsoft.com/office/drawing/2014/main" id="{BDAEBA2C-23C7-42B6-A67C-C7242162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803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! vero = falso       ! falso = vero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OT nella vita quotidiana">
            <a:extLst xmlns:a="http://schemas.openxmlformats.org/drawingml/2006/main">
              <a:ext uri="{FF2B5EF4-FFF2-40B4-BE49-F238E27FC236}">
                <a16:creationId xmlns:a16="http://schemas.microsoft.com/office/drawing/2014/main" id="{2D7FB4F2-2E4F-4C90-9F83-887F3C2D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NOT nella vita quotidiana</a:t>
            </a:r>
          </a:p>
        </p:txBody>
      </p:sp>
      <p:sp>
        <p:nvSpPr>
          <p:cNvPr id="2" name="Il telefono è acceso.">
            <a:extLst xmlns:a="http://schemas.openxmlformats.org/drawingml/2006/main">
              <a:ext uri="{FF2B5EF4-FFF2-40B4-BE49-F238E27FC236}">
                <a16:creationId xmlns:a16="http://schemas.microsoft.com/office/drawing/2014/main" id="{4B779CC7-A3F0-4A1D-AFED-FAC111C8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03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Il telefono è acceso.</a:t>
            </a:r>
          </a:p>
        </p:txBody>
      </p:sp>
      <p:sp>
        <p:nvSpPr>
          <p:cNvPr id="3" name="NOT: il telefono non è acceso.">
            <a:extLst xmlns:a="http://schemas.openxmlformats.org/drawingml/2006/main">
              <a:ext uri="{FF2B5EF4-FFF2-40B4-BE49-F238E27FC236}">
                <a16:creationId xmlns:a16="http://schemas.microsoft.com/office/drawing/2014/main" id="{94D56CED-C864-488C-8961-FD002524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803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NOT: il telefono non è acceso.</a:t>
            </a:r>
          </a:p>
        </p:txBody>
      </p:sp>
      <p:sp>
        <p:nvSpPr>
          <p:cNvPr id="4" name="Porto gli occhiali.">
            <a:extLst xmlns:a="http://schemas.openxmlformats.org/drawingml/2006/main">
              <a:ext uri="{FF2B5EF4-FFF2-40B4-BE49-F238E27FC236}">
                <a16:creationId xmlns:a16="http://schemas.microsoft.com/office/drawing/2014/main" id="{3523EF08-F6DC-4525-A797-11906C20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803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Porto gli occhiali.</a:t>
            </a:r>
          </a:p>
        </p:txBody>
      </p:sp>
      <p:sp>
        <p:nvSpPr>
          <p:cNvPr id="5" name="NOT: non porto gli occhiali.">
            <a:extLst xmlns:a="http://schemas.openxmlformats.org/drawingml/2006/main">
              <a:ext uri="{FF2B5EF4-FFF2-40B4-BE49-F238E27FC236}">
                <a16:creationId xmlns:a16="http://schemas.microsoft.com/office/drawing/2014/main" id="{D3C75126-7957-4EAE-B50F-B47E804D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803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NOT: non porto gli occhiali.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arole e simboli della logica">
            <a:extLst xmlns:a="http://schemas.openxmlformats.org/drawingml/2006/main">
              <a:ext uri="{FF2B5EF4-FFF2-40B4-BE49-F238E27FC236}">
                <a16:creationId xmlns:a16="http://schemas.microsoft.com/office/drawing/2014/main" id="{062A55E2-3D30-4B5F-9030-0571CF1E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Parole e simboli della logica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114425"/>
          <a:ext xmlns:a="http://schemas.openxmlformats.org/drawingml/2006/main" cx="80391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79700"/>
                <a:gridCol w="2679700"/>
                <a:gridCol w="2679700"/>
              </a:tblGrid>
              <a:tr h="557213"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Simbolo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Parola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 legge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&amp;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|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o, almeno una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!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NOT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non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Le parentesi indicano che cosa valutare insieme.">
            <a:extLst xmlns:a="http://schemas.openxmlformats.org/drawingml/2006/main">
              <a:ext uri="{FF2B5EF4-FFF2-40B4-BE49-F238E27FC236}">
                <a16:creationId xmlns:a16="http://schemas.microsoft.com/office/drawing/2014/main" id="{1A7B5C45-F316-46AB-B896-DFA6F26A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803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Le parentesi indicano che cosa valutare insieme.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sercizi: vero o falso?">
            <a:extLst xmlns:a="http://schemas.openxmlformats.org/drawingml/2006/main">
              <a:ext uri="{FF2B5EF4-FFF2-40B4-BE49-F238E27FC236}">
                <a16:creationId xmlns:a16="http://schemas.microsoft.com/office/drawing/2014/main" id="{242505E7-BB44-40A2-8C2D-9206B5D3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Esercizi: vero o falso?</a:t>
            </a:r>
          </a:p>
        </p:txBody>
      </p:sp>
      <p:sp>
        <p:nvSpPr>
          <p:cNvPr id="2" name="1. Ingresso: ho il biglietto, manca la prenotazione.">
            <a:extLst xmlns:a="http://schemas.openxmlformats.org/drawingml/2006/main">
              <a:ext uri="{FF2B5EF4-FFF2-40B4-BE49-F238E27FC236}">
                <a16:creationId xmlns:a16="http://schemas.microsoft.com/office/drawing/2014/main" id="{81D506A9-18F7-477F-9BF9-14FFECC6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1. Ingresso: ho il biglietto, manca la prenotazione.</a:t>
            </a:r>
          </a:p>
        </p:txBody>
      </p:sp>
      <p:sp>
        <p:nvSpPr>
          <p:cNvPr id="3" name="2. Sconto: sono studente e ho anche la tessera.">
            <a:extLst xmlns:a="http://schemas.openxmlformats.org/drawingml/2006/main">
              <a:ext uri="{FF2B5EF4-FFF2-40B4-BE49-F238E27FC236}">
                <a16:creationId xmlns:a16="http://schemas.microsoft.com/office/drawing/2014/main" id="{B4DCC427-CB71-40CB-82A2-AB668E58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2. Sconto: sono studente e ho anche la tessera.</a:t>
            </a:r>
          </a:p>
        </p:txBody>
      </p:sp>
      <p:sp>
        <p:nvSpPr>
          <p:cNvPr id="4" name="3. Sconto: non sono studente, ma ho la tessera.">
            <a:extLst xmlns:a="http://schemas.openxmlformats.org/drawingml/2006/main">
              <a:ext uri="{FF2B5EF4-FFF2-40B4-BE49-F238E27FC236}">
                <a16:creationId xmlns:a16="http://schemas.microsoft.com/office/drawing/2014/main" id="{395F97BD-35B6-45D1-9469-A8676992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3. Sconto: non sono studente, ma ho la tessera.</a:t>
            </a:r>
          </a:p>
        </p:txBody>
      </p:sp>
      <p:sp>
        <p:nvSpPr>
          <p:cNvPr id="5" name="4. Porto gli occhiali. Quanto vale ! «porto gli occhiali»?">
            <a:extLst xmlns:a="http://schemas.openxmlformats.org/drawingml/2006/main">
              <a:ext uri="{FF2B5EF4-FFF2-40B4-BE49-F238E27FC236}">
                <a16:creationId xmlns:a16="http://schemas.microsoft.com/office/drawing/2014/main" id="{07A32421-87ED-4604-AABA-FED359C1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4. Porto gli occhiali. Quanto vale ! «porto gli occhiali»?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oluzioni: la regola conta">
            <a:extLst xmlns:a="http://schemas.openxmlformats.org/drawingml/2006/main">
              <a:ext uri="{FF2B5EF4-FFF2-40B4-BE49-F238E27FC236}">
                <a16:creationId xmlns:a16="http://schemas.microsoft.com/office/drawing/2014/main" id="{C3103300-1F1F-46B5-BA14-1F0C50B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Soluzioni: la regola conta</a:t>
            </a:r>
          </a:p>
        </p:txBody>
      </p:sp>
      <p:sp>
        <p:nvSpPr>
          <p:cNvPr id="2" name="1. 0: AND richiede anche la prenotazione.">
            <a:extLst xmlns:a="http://schemas.openxmlformats.org/drawingml/2006/main">
              <a:ext uri="{FF2B5EF4-FFF2-40B4-BE49-F238E27FC236}">
                <a16:creationId xmlns:a16="http://schemas.microsoft.com/office/drawing/2014/main" id="{5E51537E-EA4C-40E7-A54B-E70639E0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1. 0: AND richiede anche la prenotazione.</a:t>
            </a:r>
          </a:p>
        </p:txBody>
      </p:sp>
      <p:sp>
        <p:nvSpPr>
          <p:cNvPr id="3" name="2. 1: per OR vanno bene anche entrambe.">
            <a:extLst xmlns:a="http://schemas.openxmlformats.org/drawingml/2006/main">
              <a:ext uri="{FF2B5EF4-FFF2-40B4-BE49-F238E27FC236}">
                <a16:creationId xmlns:a16="http://schemas.microsoft.com/office/drawing/2014/main" id="{A66E5D89-DA66-4C0E-80F3-4C6E4217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2. 1: per OR vanno bene anche entrambe.</a:t>
            </a:r>
          </a:p>
        </p:txBody>
      </p:sp>
      <p:sp>
        <p:nvSpPr>
          <p:cNvPr id="4" name="3. 1: per OR basta la tessera.">
            <a:extLst xmlns:a="http://schemas.openxmlformats.org/drawingml/2006/main">
              <a:ext uri="{FF2B5EF4-FFF2-40B4-BE49-F238E27FC236}">
                <a16:creationId xmlns:a16="http://schemas.microsoft.com/office/drawing/2014/main" id="{F92D7749-6B35-46C6-8124-6D0EDF4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3. 1: per OR basta la tessera.</a:t>
            </a:r>
          </a:p>
        </p:txBody>
      </p:sp>
      <p:sp>
        <p:nvSpPr>
          <p:cNvPr id="5" name="4. 0: NOT capovolge il valore 1.">
            <a:extLst xmlns:a="http://schemas.openxmlformats.org/drawingml/2006/main">
              <a:ext uri="{FF2B5EF4-FFF2-40B4-BE49-F238E27FC236}">
                <a16:creationId xmlns:a16="http://schemas.microsoft.com/office/drawing/2014/main" id="{E622B2BC-82E9-4302-990B-16C4D937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4. 0: NOT capovolge il valore 1.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ND e OR bit a bit">
            <a:extLst xmlns:a="http://schemas.openxmlformats.org/drawingml/2006/main">
              <a:ext uri="{FF2B5EF4-FFF2-40B4-BE49-F238E27FC236}">
                <a16:creationId xmlns:a16="http://schemas.microsoft.com/office/drawing/2014/main" id="{40BAECC7-A0E7-4A0C-909B-3DAFB350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AND e OR bit a bit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047750"/>
          <a:ext xmlns:a="http://schemas.openxmlformats.org/drawingml/2006/main" cx="80391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7820"/>
                <a:gridCol w="1607820"/>
                <a:gridCol w="1607820"/>
                <a:gridCol w="1607820"/>
                <a:gridCol w="160782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Operazione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Primo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Secondo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&amp;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|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Una colonna alla volta. Nessun riporto.">
            <a:extLst xmlns:a="http://schemas.openxmlformats.org/drawingml/2006/main">
              <a:ext uri="{FF2B5EF4-FFF2-40B4-BE49-F238E27FC236}">
                <a16:creationId xmlns:a16="http://schemas.microsoft.com/office/drawing/2014/main" id="{19433ABC-1DFF-4347-B13F-3F3348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03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Una colonna alla volta. Nessun riporto.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OT bit a bit: fissiamo 4 bit">
            <a:extLst xmlns:a="http://schemas.openxmlformats.org/drawingml/2006/main">
              <a:ext uri="{FF2B5EF4-FFF2-40B4-BE49-F238E27FC236}">
                <a16:creationId xmlns:a16="http://schemas.microsoft.com/office/drawing/2014/main" id="{2F0B6914-EA2E-47FE-A2EC-D0EAB29E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NOT bit a bit: fissiamo 4 bit</a:t>
            </a:r>
          </a:p>
        </p:txBody>
      </p:sp>
      <p:sp>
        <p:nvSpPr>
          <p:cNvPr id="2" name="Larghezza: 4 bit">
            <a:extLst xmlns:a="http://schemas.openxmlformats.org/drawingml/2006/main">
              <a:ext uri="{FF2B5EF4-FFF2-40B4-BE49-F238E27FC236}">
                <a16:creationId xmlns:a16="http://schemas.microsoft.com/office/drawing/2014/main" id="{9D871A06-9809-4621-8E1E-5DEB137C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Larghezza: 4 bit</a:t>
            </a:r>
          </a:p>
        </p:txBody>
      </p:sp>
      <p:sp>
        <p:nvSpPr>
          <p:cNvPr id="3" name="!0101 = 1010">
            <a:extLst xmlns:a="http://schemas.openxmlformats.org/drawingml/2006/main">
              <a:ext uri="{FF2B5EF4-FFF2-40B4-BE49-F238E27FC236}">
                <a16:creationId xmlns:a16="http://schemas.microsoft.com/office/drawing/2014/main" id="{717B00C5-4E41-487F-A291-9FE98C90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8039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!0101 = 1010</a:t>
            </a:r>
          </a:p>
        </p:txBody>
      </p:sp>
      <p:sp>
        <p:nvSpPr>
          <p:cNvPr id="4" name="!1100 = 0011">
            <a:extLst xmlns:a="http://schemas.openxmlformats.org/drawingml/2006/main">
              <a:ext uri="{FF2B5EF4-FFF2-40B4-BE49-F238E27FC236}">
                <a16:creationId xmlns:a16="http://schemas.microsoft.com/office/drawing/2014/main" id="{6FBC83F4-5975-4A01-ACC2-F202525C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8039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!1100 = 0011</a:t>
            </a:r>
          </a:p>
        </p:txBody>
      </p:sp>
      <p:sp>
        <p:nvSpPr>
          <p:cNvPr id="5" name="Ogni bit cambia. I posti restano quattro.">
            <a:extLst xmlns:a="http://schemas.openxmlformats.org/drawingml/2006/main">
              <a:ext uri="{FF2B5EF4-FFF2-40B4-BE49-F238E27FC236}">
                <a16:creationId xmlns:a16="http://schemas.microsoft.com/office/drawing/2014/main" id="{C46FB56F-F852-43CB-B7AE-08BDF679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803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Ogni bit cambia. I posti restano quattro.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sercizi: operazioni su 4 bit">
            <a:extLst xmlns:a="http://schemas.openxmlformats.org/drawingml/2006/main">
              <a:ext uri="{FF2B5EF4-FFF2-40B4-BE49-F238E27FC236}">
                <a16:creationId xmlns:a16="http://schemas.microsoft.com/office/drawing/2014/main" id="{D210882D-285C-4D94-9AB1-E63E90A3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Esercizi: operazioni su 4 bit</a:t>
            </a:r>
          </a:p>
        </p:txBody>
      </p:sp>
      <p:sp>
        <p:nvSpPr>
          <p:cNvPr id="2" name="1. 1010 &amp; 1100 = …">
            <a:extLst xmlns:a="http://schemas.openxmlformats.org/drawingml/2006/main">
              <a:ext uri="{FF2B5EF4-FFF2-40B4-BE49-F238E27FC236}">
                <a16:creationId xmlns:a16="http://schemas.microsoft.com/office/drawing/2014/main" id="{43AF9198-C2C3-4572-9369-2A02A2B1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1. 1010 &amp; 1100 = …</a:t>
            </a:r>
          </a:p>
        </p:txBody>
      </p:sp>
      <p:sp>
        <p:nvSpPr>
          <p:cNvPr id="3" name="2. 0101 | 1010 = …">
            <a:extLst xmlns:a="http://schemas.openxmlformats.org/drawingml/2006/main">
              <a:ext uri="{FF2B5EF4-FFF2-40B4-BE49-F238E27FC236}">
                <a16:creationId xmlns:a16="http://schemas.microsoft.com/office/drawing/2014/main" id="{645B6A14-3429-49F5-9330-37A80A79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2. 0101 | 1010 = …</a:t>
            </a:r>
          </a:p>
        </p:txBody>
      </p:sp>
      <p:sp>
        <p:nvSpPr>
          <p:cNvPr id="4" name="3. !0110 = …">
            <a:extLst xmlns:a="http://schemas.openxmlformats.org/drawingml/2006/main">
              <a:ext uri="{FF2B5EF4-FFF2-40B4-BE49-F238E27FC236}">
                <a16:creationId xmlns:a16="http://schemas.microsoft.com/office/drawing/2014/main" id="{126C6CE3-F9F0-46CC-84E1-ED1575D1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3. !0110 = …</a:t>
            </a:r>
          </a:p>
        </p:txBody>
      </p:sp>
      <p:sp>
        <p:nvSpPr>
          <p:cNvPr id="5" name="4. !1111 = …">
            <a:extLst xmlns:a="http://schemas.openxmlformats.org/drawingml/2006/main">
              <a:ext uri="{FF2B5EF4-FFF2-40B4-BE49-F238E27FC236}">
                <a16:creationId xmlns:a16="http://schemas.microsoft.com/office/drawing/2014/main" id="{DE3FEBC0-D772-4B41-A9A7-8F93E01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4. !1111 = …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oluzioni: operazioni su 4 bit">
            <a:extLst xmlns:a="http://schemas.openxmlformats.org/drawingml/2006/main">
              <a:ext uri="{FF2B5EF4-FFF2-40B4-BE49-F238E27FC236}">
                <a16:creationId xmlns:a16="http://schemas.microsoft.com/office/drawing/2014/main" id="{43EBB4BA-F2EB-483C-9FDC-CD97FB23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Soluzioni: operazioni su 4 bit</a:t>
            </a:r>
          </a:p>
        </p:txBody>
      </p:sp>
      <p:sp>
        <p:nvSpPr>
          <p:cNvPr id="2" name="1. 1010 &amp; 1100 = 1000">
            <a:extLst xmlns:a="http://schemas.openxmlformats.org/drawingml/2006/main">
              <a:ext uri="{FF2B5EF4-FFF2-40B4-BE49-F238E27FC236}">
                <a16:creationId xmlns:a16="http://schemas.microsoft.com/office/drawing/2014/main" id="{0A1EC9C8-F8B5-4BFA-8C24-670F5A0B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1. 1010 &amp; 1100 = 1000</a:t>
            </a:r>
          </a:p>
        </p:txBody>
      </p:sp>
      <p:sp>
        <p:nvSpPr>
          <p:cNvPr id="3" name="2. 0101 | 1010 = 1111">
            <a:extLst xmlns:a="http://schemas.openxmlformats.org/drawingml/2006/main">
              <a:ext uri="{FF2B5EF4-FFF2-40B4-BE49-F238E27FC236}">
                <a16:creationId xmlns:a16="http://schemas.microsoft.com/office/drawing/2014/main" id="{5AFADA33-E908-4CC7-81AD-A7C4740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2. 0101 | 1010 = 1111</a:t>
            </a:r>
          </a:p>
        </p:txBody>
      </p:sp>
      <p:sp>
        <p:nvSpPr>
          <p:cNvPr id="4" name="3. !0110 = 1001">
            <a:extLst xmlns:a="http://schemas.openxmlformats.org/drawingml/2006/main">
              <a:ext uri="{FF2B5EF4-FFF2-40B4-BE49-F238E27FC236}">
                <a16:creationId xmlns:a16="http://schemas.microsoft.com/office/drawing/2014/main" id="{003056C0-D357-4D2E-8DAE-5BD8085A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3. !0110 = 1001</a:t>
            </a:r>
          </a:p>
        </p:txBody>
      </p:sp>
      <p:sp>
        <p:nvSpPr>
          <p:cNvPr id="5" name="4. !1111 = 0000">
            <a:extLst xmlns:a="http://schemas.openxmlformats.org/drawingml/2006/main">
              <a:ext uri="{FF2B5EF4-FFF2-40B4-BE49-F238E27FC236}">
                <a16:creationId xmlns:a16="http://schemas.microsoft.com/office/drawing/2014/main" id="{9FE84E77-6ED4-437F-834B-65BF00AD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4. !1111 = 0000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 parentesi tengono unito un gruppo">
            <a:extLst xmlns:a="http://schemas.openxmlformats.org/drawingml/2006/main">
              <a:ext uri="{FF2B5EF4-FFF2-40B4-BE49-F238E27FC236}">
                <a16:creationId xmlns:a16="http://schemas.microsoft.com/office/drawing/2014/main" id="{C8AE4D2C-2A21-41FB-88F3-CA127229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Le parentesi tengono unito un gruppo</a:t>
            </a:r>
          </a:p>
        </p:txBody>
      </p:sp>
      <p:sp>
        <p:nvSpPr>
          <p:cNvPr id="2" name="1 &amp; !(0 | 1)">
            <a:extLst xmlns:a="http://schemas.openxmlformats.org/drawingml/2006/main">
              <a:ext uri="{FF2B5EF4-FFF2-40B4-BE49-F238E27FC236}">
                <a16:creationId xmlns:a16="http://schemas.microsoft.com/office/drawing/2014/main" id="{28D3535A-E658-4940-A737-D78FD767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803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1 &amp; !(0 | 1)</a:t>
            </a:r>
          </a:p>
        </p:txBody>
      </p:sp>
      <p:sp>
        <p:nvSpPr>
          <p:cNvPr id="3" name="Dentro le parentesi: 0 | 1 = 1">
            <a:extLst xmlns:a="http://schemas.openxmlformats.org/drawingml/2006/main">
              <a:ext uri="{FF2B5EF4-FFF2-40B4-BE49-F238E27FC236}">
                <a16:creationId xmlns:a16="http://schemas.microsoft.com/office/drawing/2014/main" id="{245F41D7-BCA0-44CF-9DC8-8CC59DAE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Dentro le parentesi: 0 | 1 = 1</a:t>
            </a:r>
          </a:p>
        </p:txBody>
      </p:sp>
      <p:sp>
        <p:nvSpPr>
          <p:cNvPr id="4" name="Poi la negazione: !1 = 0">
            <a:extLst xmlns:a="http://schemas.openxmlformats.org/drawingml/2006/main">
              <a:ext uri="{FF2B5EF4-FFF2-40B4-BE49-F238E27FC236}">
                <a16:creationId xmlns:a16="http://schemas.microsoft.com/office/drawing/2014/main" id="{566D992C-CA36-4032-AD22-4BC710EE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76525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Poi la negazione: !1 = 0</a:t>
            </a:r>
          </a:p>
        </p:txBody>
      </p:sp>
      <p:sp>
        <p:nvSpPr>
          <p:cNvPr id="5" name="Infine: 1 &amp; 0 = 0">
            <a:extLst xmlns:a="http://schemas.openxmlformats.org/drawingml/2006/main">
              <a:ext uri="{FF2B5EF4-FFF2-40B4-BE49-F238E27FC236}">
                <a16:creationId xmlns:a16="http://schemas.microsoft.com/office/drawing/2014/main" id="{FB14AB38-532A-4E5B-B992-B8A7A428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Infine: 1 &amp; 0 = 0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sercizi: una regola con le icone">
            <a:extLst xmlns:a="http://schemas.openxmlformats.org/drawingml/2006/main">
              <a:ext uri="{FF2B5EF4-FFF2-40B4-BE49-F238E27FC236}">
                <a16:creationId xmlns:a16="http://schemas.microsoft.com/office/drawing/2014/main" id="{B222BB1C-174E-4182-B37B-52D1E8AB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Esercizi: una regola con le icone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c54a6bc1e43ab"/>
          <a:stretch xmlns:a="http://schemas.openxmlformats.org/drawingml/2006/main"/>
        </p:blipFill>
        <p:spPr>
          <a:xfrm xmlns:a="http://schemas.openxmlformats.org/drawingml/2006/main">
            <a:off x="2647950" y="1047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3" name="&amp;">
            <a:extLst xmlns:a="http://schemas.openxmlformats.org/drawingml/2006/main">
              <a:ext uri="{FF2B5EF4-FFF2-40B4-BE49-F238E27FC236}">
                <a16:creationId xmlns:a16="http://schemas.microsoft.com/office/drawing/2014/main" id="{835254FF-9CB0-4B36-B3D9-46F50345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47750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4" name="!">
            <a:extLst xmlns:a="http://schemas.openxmlformats.org/drawingml/2006/main">
              <a:ext uri="{FF2B5EF4-FFF2-40B4-BE49-F238E27FC236}">
                <a16:creationId xmlns:a16="http://schemas.microsoft.com/office/drawing/2014/main" id="{F153160B-4B78-45D5-957B-5A0FE22A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47750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165778db14718"/>
          <a:stretch xmlns:a="http://schemas.openxmlformats.org/drawingml/2006/main"/>
        </p:blipFill>
        <p:spPr>
          <a:xfrm xmlns:a="http://schemas.openxmlformats.org/drawingml/2006/main">
            <a:off x="5695950" y="1047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6" name="1. Ha il cappello e non ha gli occhiali.">
            <a:extLst xmlns:a="http://schemas.openxmlformats.org/drawingml/2006/main">
              <a:ext uri="{FF2B5EF4-FFF2-40B4-BE49-F238E27FC236}">
                <a16:creationId xmlns:a16="http://schemas.microsoft.com/office/drawing/2014/main" id="{0FD407A8-2312-44B8-8A49-AAE2AAFA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1. Ha il cappello e non ha gli occhiali.</a:t>
            </a:r>
          </a:p>
        </p:txBody>
      </p:sp>
      <p:sp>
        <p:nvSpPr>
          <p:cNvPr id="7" name="2. Ha il cappello e ha gli occhiali.">
            <a:extLst xmlns:a="http://schemas.openxmlformats.org/drawingml/2006/main">
              <a:ext uri="{FF2B5EF4-FFF2-40B4-BE49-F238E27FC236}">
                <a16:creationId xmlns:a16="http://schemas.microsoft.com/office/drawing/2014/main" id="{39960744-09CC-40D3-8281-7149F62F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52725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2. Ha il cappello e ha gli occhiali.</a:t>
            </a:r>
          </a:p>
        </p:txBody>
      </p:sp>
      <p:sp>
        <p:nvSpPr>
          <p:cNvPr id="8" name="3. Non ha il cappello e non ha gli occhiali.">
            <a:extLst xmlns:a="http://schemas.openxmlformats.org/drawingml/2006/main">
              <a:ext uri="{FF2B5EF4-FFF2-40B4-BE49-F238E27FC236}">
                <a16:creationId xmlns:a16="http://schemas.microsoft.com/office/drawing/2014/main" id="{740616C4-2027-4A31-B27E-186DBDF0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3. Non ha il cappello e non ha gli occhiali.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oluzioni: presenza e assenza">
            <a:extLst xmlns:a="http://schemas.openxmlformats.org/drawingml/2006/main">
              <a:ext uri="{FF2B5EF4-FFF2-40B4-BE49-F238E27FC236}">
                <a16:creationId xmlns:a16="http://schemas.microsoft.com/office/drawing/2014/main" id="{8C5C2074-4648-42AB-AA3B-2464A7AA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Soluzioni: presenza e assenza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11a20617a477f"/>
          <a:stretch xmlns:a="http://schemas.openxmlformats.org/drawingml/2006/main"/>
        </p:blipFill>
        <p:spPr>
          <a:xfrm xmlns:a="http://schemas.openxmlformats.org/drawingml/2006/main">
            <a:off x="2647950" y="100012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3" name="&amp;">
            <a:extLst xmlns:a="http://schemas.openxmlformats.org/drawingml/2006/main">
              <a:ext uri="{FF2B5EF4-FFF2-40B4-BE49-F238E27FC236}">
                <a16:creationId xmlns:a16="http://schemas.microsoft.com/office/drawing/2014/main" id="{97962278-4A4B-4C41-B554-084B7D3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00125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4" name="!">
            <a:extLst xmlns:a="http://schemas.openxmlformats.org/drawingml/2006/main">
              <a:ext uri="{FF2B5EF4-FFF2-40B4-BE49-F238E27FC236}">
                <a16:creationId xmlns:a16="http://schemas.microsoft.com/office/drawing/2014/main" id="{759FBA2D-3F61-43E7-B4D8-C15ED76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74f85574c42dd"/>
          <a:stretch xmlns:a="http://schemas.openxmlformats.org/drawingml/2006/main"/>
        </p:blipFill>
        <p:spPr>
          <a:xfrm xmlns:a="http://schemas.openxmlformats.org/drawingml/2006/main">
            <a:off x="5695950" y="100012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6" name="1. 1 &amp; !0 = 1">
            <a:extLst xmlns:a="http://schemas.openxmlformats.org/drawingml/2006/main">
              <a:ext uri="{FF2B5EF4-FFF2-40B4-BE49-F238E27FC236}">
                <a16:creationId xmlns:a16="http://schemas.microsoft.com/office/drawing/2014/main" id="{F24E9BBD-4747-4BC3-8779-77E99F4F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1. 1 &amp; !0 = 1</a:t>
            </a:r>
          </a:p>
        </p:txBody>
      </p:sp>
      <p:sp>
        <p:nvSpPr>
          <p:cNvPr id="7" name="2. 1 &amp; !1 = 0">
            <a:extLst xmlns:a="http://schemas.openxmlformats.org/drawingml/2006/main">
              <a:ext uri="{FF2B5EF4-FFF2-40B4-BE49-F238E27FC236}">
                <a16:creationId xmlns:a16="http://schemas.microsoft.com/office/drawing/2014/main" id="{2EBAD70E-EB75-4A47-8407-F613B58A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2. 1 &amp; !1 = 0</a:t>
            </a:r>
          </a:p>
        </p:txBody>
      </p:sp>
      <p:sp>
        <p:nvSpPr>
          <p:cNvPr id="8" name="3. 0 &amp; !0 = 0">
            <a:extLst xmlns:a="http://schemas.openxmlformats.org/drawingml/2006/main">
              <a:ext uri="{FF2B5EF4-FFF2-40B4-BE49-F238E27FC236}">
                <a16:creationId xmlns:a16="http://schemas.microsoft.com/office/drawing/2014/main" id="{41F687EC-6394-41BC-871B-E1C0D68E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803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3. 0 &amp; !0 = 0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ogana Booleana">
            <a:extLst xmlns:a="http://schemas.openxmlformats.org/drawingml/2006/main">
              <a:ext uri="{FF2B5EF4-FFF2-40B4-BE49-F238E27FC236}">
                <a16:creationId xmlns:a16="http://schemas.microsoft.com/office/drawing/2014/main" id="{C6014AF4-214C-49FD-A7D2-CD53D407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8096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Dogana Booleana</a:t>
            </a:r>
          </a:p>
        </p:txBody>
      </p:sp>
    </p:spTree>
    <p:extLst>
      <p:ext uri="{BB962C8B-B14F-4D97-AF65-F5344CB8AC3E}">
        <p14:creationId xmlns:p14="http://schemas.microsoft.com/office/powerpoint/2010/main" val="124797510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u controlli gli ingressi">
            <a:extLst xmlns:a="http://schemas.openxmlformats.org/drawingml/2006/main">
              <a:ext uri="{FF2B5EF4-FFF2-40B4-BE49-F238E27FC236}">
                <a16:creationId xmlns:a16="http://schemas.microsoft.com/office/drawing/2014/main" id="{A088A5FD-81F3-4648-8C78-091B67C1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Tu controlli gli ingressi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77bc67f224599"/>
          <a:stretch xmlns:a="http://schemas.openxmlformats.org/drawingml/2006/main"/>
        </p:blipFill>
        <p:spPr>
          <a:xfrm xmlns:a="http://schemas.openxmlformats.org/drawingml/2006/main">
            <a:off x="795247" y="942975"/>
            <a:ext cx="1390831" cy="3009900"/>
          </a:xfrm>
          <a:prstGeom xmlns:a="http://schemas.openxmlformats.org/drawingml/2006/main" prst="rect">
            <a:avLst/>
          </a:prstGeom>
        </p:spPr>
      </p:pic>
      <p:sp>
        <p:nvSpPr>
          <p:cNvPr id="3" name="Una regola resta visibile.&#10;Gli ospiti cambiano.">
            <a:extLst xmlns:a="http://schemas.openxmlformats.org/drawingml/2006/main">
              <a:ext uri="{FF2B5EF4-FFF2-40B4-BE49-F238E27FC236}">
                <a16:creationId xmlns:a16="http://schemas.microsoft.com/office/drawing/2014/main" id="{16A2A719-C127-4C68-B8D8-2252033F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62050"/>
            <a:ext cx="5657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Una regola resta visibile.</a:t>
            </a:r>
          </a:p>
          <a:p xmlns:a="http://schemas.openxmlformats.org/drawingml/2006/main">
            <a:pPr algn="l">
              <a:defRPr sz="24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Gli ospiti cambiano.</a:t>
            </a:r>
          </a:p>
        </p:txBody>
      </p:sp>
      <p:sp>
        <p:nvSpPr>
          <p:cNvPr id="4" name="Ogni icona vale 1 se il tratto è presente,&#10;0 se è assente.">
            <a:extLst xmlns:a="http://schemas.openxmlformats.org/drawingml/2006/main">
              <a:ext uri="{FF2B5EF4-FFF2-40B4-BE49-F238E27FC236}">
                <a16:creationId xmlns:a16="http://schemas.microsoft.com/office/drawing/2014/main" id="{A248CFB9-B316-40B7-985A-D1CDC849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76475"/>
            <a:ext cx="5667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Ogni icona vale 1 se il tratto è presente,</a:t>
            </a:r>
          </a:p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0 se è assente.</a:t>
            </a:r>
          </a:p>
        </p:txBody>
      </p:sp>
      <p:sp>
        <p:nvSpPr>
          <p:cNvPr id="5" name="20 ambientazioni da esplorare">
            <a:extLst xmlns:a="http://schemas.openxmlformats.org/drawingml/2006/main">
              <a:ext uri="{FF2B5EF4-FFF2-40B4-BE49-F238E27FC236}">
                <a16:creationId xmlns:a16="http://schemas.microsoft.com/office/drawing/2014/main" id="{52F40AD2-0C0F-480F-A37A-2E827BFB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19475"/>
            <a:ext cx="565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20 ambientazioni da esplorare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Una regola fissa, un controllo per ospite">
            <a:extLst xmlns:a="http://schemas.openxmlformats.org/drawingml/2006/main">
              <a:ext uri="{FF2B5EF4-FFF2-40B4-BE49-F238E27FC236}">
                <a16:creationId xmlns:a16="http://schemas.microsoft.com/office/drawing/2014/main" id="{82626316-91F1-42DF-BF34-5550BFB6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Una regola fissa, un controllo per ospite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211fd485d44ba"/>
          <a:stretch xmlns:a="http://schemas.openxmlformats.org/drawingml/2006/main"/>
        </p:blipFill>
        <p:spPr>
          <a:xfrm xmlns:a="http://schemas.openxmlformats.org/drawingml/2006/main">
            <a:off x="2647950" y="10287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3" name="&amp;">
            <a:extLst xmlns:a="http://schemas.openxmlformats.org/drawingml/2006/main">
              <a:ext uri="{FF2B5EF4-FFF2-40B4-BE49-F238E27FC236}">
                <a16:creationId xmlns:a16="http://schemas.microsoft.com/office/drawing/2014/main" id="{200581C1-A9B8-4666-A126-30EF4FCA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28700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4" name="!">
            <a:extLst xmlns:a="http://schemas.openxmlformats.org/drawingml/2006/main">
              <a:ext uri="{FF2B5EF4-FFF2-40B4-BE49-F238E27FC236}">
                <a16:creationId xmlns:a16="http://schemas.microsoft.com/office/drawing/2014/main" id="{F9DE706A-4552-4429-ADCA-F438D70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28700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d4c32dbc04d7e"/>
          <a:stretch xmlns:a="http://schemas.openxmlformats.org/drawingml/2006/main"/>
        </p:blipFill>
        <p:spPr>
          <a:xfrm xmlns:a="http://schemas.openxmlformats.org/drawingml/2006/main">
            <a:off x="5695950" y="10287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6" name="L’icona descrive il tratto da cercare nell’ospite.">
            <a:extLst xmlns:a="http://schemas.openxmlformats.org/drawingml/2006/main">
              <a:ext uri="{FF2B5EF4-FFF2-40B4-BE49-F238E27FC236}">
                <a16:creationId xmlns:a16="http://schemas.microsoft.com/office/drawing/2014/main" id="{58C10A53-B116-4A42-A4A5-C53B1492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8039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L’icona descrive il tratto da cercare nell’ospite.</a:t>
            </a:r>
          </a:p>
        </p:txBody>
      </p:sp>
      <p:sp>
        <p:nvSpPr>
          <p:cNvPr id="7" name="Il risultato 1 permette l’ingresso.">
            <a:extLst xmlns:a="http://schemas.openxmlformats.org/drawingml/2006/main">
              <a:ext uri="{FF2B5EF4-FFF2-40B4-BE49-F238E27FC236}">
                <a16:creationId xmlns:a16="http://schemas.microsoft.com/office/drawing/2014/main" id="{61BF86A8-927A-40E0-8CC0-40BFE67A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8039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Il risultato 1 permette l’ingresso.</a:t>
            </a:r>
          </a:p>
        </p:txBody>
      </p:sp>
      <p:sp>
        <p:nvSpPr>
          <p:cNvPr id="8" name="Il risultato 0 richiede di respingere.">
            <a:extLst xmlns:a="http://schemas.openxmlformats.org/drawingml/2006/main">
              <a:ext uri="{FF2B5EF4-FFF2-40B4-BE49-F238E27FC236}">
                <a16:creationId xmlns:a16="http://schemas.microsoft.com/office/drawing/2014/main" id="{FAFA8106-B2F2-4806-8FB0-0EF8DBC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8039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Il risultato 0 richiede di respingere.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ue risposte, tre vite">
            <a:extLst xmlns:a="http://schemas.openxmlformats.org/drawingml/2006/main">
              <a:ext uri="{FF2B5EF4-FFF2-40B4-BE49-F238E27FC236}">
                <a16:creationId xmlns:a16="http://schemas.microsoft.com/office/drawing/2014/main" id="{2E619EEE-8D78-4585-B07F-ABFAC0B1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Due risposte, tre vite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133475"/>
          <a:ext xmlns:a="http://schemas.openxmlformats.org/drawingml/2006/main" cx="8039100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4019550"/>
              </a:tblGrid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0: RESPINGI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1: AMMETTI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Scorri a sinistra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Scorri a destra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Oppure premi 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Oppure premi 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Hai 3 vite. Un errore o un timeout costa 1 vita.">
            <a:extLst xmlns:a="http://schemas.openxmlformats.org/drawingml/2006/main">
              <a:ext uri="{FF2B5EF4-FFF2-40B4-BE49-F238E27FC236}">
                <a16:creationId xmlns:a16="http://schemas.microsoft.com/office/drawing/2014/main" id="{1CB58CA8-C572-4D44-B810-9921A044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8039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Hai 3 vite. Un errore o un timeout costa 1 vita.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ima la regola, poi il tempo">
            <a:extLst xmlns:a="http://schemas.openxmlformats.org/drawingml/2006/main">
              <a:ext uri="{FF2B5EF4-FFF2-40B4-BE49-F238E27FC236}">
                <a16:creationId xmlns:a16="http://schemas.microsoft.com/office/drawing/2014/main" id="{B7DFCE86-722D-4D24-B3E3-A2D90444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Prima la regola, poi il tempo</a:t>
            </a:r>
          </a:p>
        </p:txBody>
      </p:sp>
      <p:sp>
        <p:nvSpPr>
          <p:cNvPr id="2" name="Livelli 1–4: nessun timer.">
            <a:extLst xmlns:a="http://schemas.openxmlformats.org/drawingml/2006/main">
              <a:ext uri="{FF2B5EF4-FFF2-40B4-BE49-F238E27FC236}">
                <a16:creationId xmlns:a16="http://schemas.microsoft.com/office/drawing/2014/main" id="{DD7D2FE1-8429-4108-86EB-0713C9B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Livelli 1–4: nessun timer.</a:t>
            </a:r>
          </a:p>
        </p:txBody>
      </p:sp>
      <p:sp>
        <p:nvSpPr>
          <p:cNvPr id="3" name="Dal livello 5: un timer per ogni ospite.">
            <a:extLst xmlns:a="http://schemas.openxmlformats.org/drawingml/2006/main">
              <a:ext uri="{FF2B5EF4-FFF2-40B4-BE49-F238E27FC236}">
                <a16:creationId xmlns:a16="http://schemas.microsoft.com/office/drawing/2014/main" id="{3220E486-9E3C-459E-BCA1-B20B501D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Dal livello 5: un timer per ogni ospite.</a:t>
            </a:r>
          </a:p>
        </p:txBody>
      </p:sp>
      <p:sp>
        <p:nvSpPr>
          <p:cNvPr id="4" name="Il tempo si adatta alla difficoltà e al tuo andamento.">
            <a:extLst xmlns:a="http://schemas.openxmlformats.org/drawingml/2006/main">
              <a:ext uri="{FF2B5EF4-FFF2-40B4-BE49-F238E27FC236}">
                <a16:creationId xmlns:a16="http://schemas.microsoft.com/office/drawing/2014/main" id="{3764EBE6-2BC8-49CF-ABF0-DF043814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Il tempo si adatta alla difficoltà e al tuo andamento.</a:t>
            </a:r>
          </a:p>
        </p:txBody>
      </p:sp>
      <p:sp>
        <p:nvSpPr>
          <p:cNvPr id="5" name="Risultato e spiegazione fermano il ritmo della partita.">
            <a:extLst xmlns:a="http://schemas.openxmlformats.org/drawingml/2006/main">
              <a:ext uri="{FF2B5EF4-FFF2-40B4-BE49-F238E27FC236}">
                <a16:creationId xmlns:a16="http://schemas.microsoft.com/office/drawing/2014/main" id="{70294865-4413-4681-ADFC-D99FDAF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Risultato e spiegazione fermano il ritmo della partita.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opo ogni scelta: il feedback">
            <a:extLst xmlns:a="http://schemas.openxmlformats.org/drawingml/2006/main">
              <a:ext uri="{FF2B5EF4-FFF2-40B4-BE49-F238E27FC236}">
                <a16:creationId xmlns:a16="http://schemas.microsoft.com/office/drawing/2014/main" id="{7D497FC4-2D9D-41E7-9DC8-B47D3040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Dopo ogni scelta: il feedback</a:t>
            </a:r>
          </a:p>
        </p:txBody>
      </p:sp>
      <p:sp>
        <p:nvSpPr>
          <p:cNvPr id="2" name="Leggi se la scelta è corretta.">
            <a:extLst xmlns:a="http://schemas.openxmlformats.org/drawingml/2006/main">
              <a:ext uri="{FF2B5EF4-FFF2-40B4-BE49-F238E27FC236}">
                <a16:creationId xmlns:a16="http://schemas.microsoft.com/office/drawing/2014/main" id="{03DB22A3-C06D-435A-84EA-C7CED01B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Leggi se la scelta è corretta.</a:t>
            </a:r>
          </a:p>
        </p:txBody>
      </p:sp>
      <p:sp>
        <p:nvSpPr>
          <p:cNvPr id="3" name="Controlla quale parte della regola decide l’esito.">
            <a:extLst xmlns:a="http://schemas.openxmlformats.org/drawingml/2006/main">
              <a:ext uri="{FF2B5EF4-FFF2-40B4-BE49-F238E27FC236}">
                <a16:creationId xmlns:a16="http://schemas.microsoft.com/office/drawing/2014/main" id="{0DECC61F-2761-4166-9CAE-00FFC367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Controlla quale parte della regola decide l’esito.</a:t>
            </a:r>
          </a:p>
        </p:txBody>
      </p:sp>
      <p:sp>
        <p:nvSpPr>
          <p:cNvPr id="4" name="Se sbagli, ricostruisci il ragionamento con 0 e 1.">
            <a:extLst xmlns:a="http://schemas.openxmlformats.org/drawingml/2006/main">
              <a:ext uri="{FF2B5EF4-FFF2-40B4-BE49-F238E27FC236}">
                <a16:creationId xmlns:a16="http://schemas.microsoft.com/office/drawing/2014/main" id="{55326E68-8236-4856-939C-E0969704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Se sbagli, ricostruisci il ragionamento con 0 e 1.</a:t>
            </a:r>
          </a:p>
        </p:txBody>
      </p:sp>
      <p:sp>
        <p:nvSpPr>
          <p:cNvPr id="5" name="Poi passa all’ospite successivo.">
            <a:extLst xmlns:a="http://schemas.openxmlformats.org/drawingml/2006/main">
              <a:ext uri="{FF2B5EF4-FFF2-40B4-BE49-F238E27FC236}">
                <a16:creationId xmlns:a16="http://schemas.microsoft.com/office/drawing/2014/main" id="{72421AFF-04DD-40AE-8927-61C134FD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Poi passa all’ospite successivo.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e impostazioni del gioco">
            <a:extLst xmlns:a="http://schemas.openxmlformats.org/drawingml/2006/main">
              <a:ext uri="{FF2B5EF4-FFF2-40B4-BE49-F238E27FC236}">
                <a16:creationId xmlns:a16="http://schemas.microsoft.com/office/drawing/2014/main" id="{DB35BB2F-23A2-4C87-84FA-6834B2DA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Le impostazioni del gioco</a:t>
            </a:r>
          </a:p>
        </p:txBody>
      </p:sp>
      <p:sp>
        <p:nvSpPr>
          <p:cNvPr id="2" name="Simboli: in classe usiamo &amp; | !.">
            <a:extLst xmlns:a="http://schemas.openxmlformats.org/drawingml/2006/main">
              <a:ext uri="{FF2B5EF4-FFF2-40B4-BE49-F238E27FC236}">
                <a16:creationId xmlns:a16="http://schemas.microsoft.com/office/drawing/2014/main" id="{41E1F0E1-BE9A-418D-866F-066AE240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Simboli: in classe usiamo &amp; | !.</a:t>
            </a:r>
          </a:p>
        </p:txBody>
      </p:sp>
      <p:sp>
        <p:nvSpPr>
          <p:cNvPr id="3" name="Audio: effetti e musica.">
            <a:extLst xmlns:a="http://schemas.openxmlformats.org/drawingml/2006/main">
              <a:ext uri="{FF2B5EF4-FFF2-40B4-BE49-F238E27FC236}">
                <a16:creationId xmlns:a16="http://schemas.microsoft.com/office/drawing/2014/main" id="{AF30CB2A-4DD8-43B2-B3A9-B4A39567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Audio: effetti e musica.</a:t>
            </a:r>
          </a:p>
        </p:txBody>
      </p:sp>
      <p:sp>
        <p:nvSpPr>
          <p:cNvPr id="4" name="Animazioni: attive oppure disattive.">
            <a:extLst xmlns:a="http://schemas.openxmlformats.org/drawingml/2006/main">
              <a:ext uri="{FF2B5EF4-FFF2-40B4-BE49-F238E27FC236}">
                <a16:creationId xmlns:a16="http://schemas.microsoft.com/office/drawing/2014/main" id="{91464772-5CC8-4E96-A11F-78AC0067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Animazioni: attive oppure disattive.</a:t>
            </a:r>
          </a:p>
        </p:txBody>
      </p:sp>
      <p:sp>
        <p:nvSpPr>
          <p:cNvPr id="5" name="Allenamento: uno spazio separato per fare pratica.">
            <a:extLst xmlns:a="http://schemas.openxmlformats.org/drawingml/2006/main">
              <a:ext uri="{FF2B5EF4-FFF2-40B4-BE49-F238E27FC236}">
                <a16:creationId xmlns:a16="http://schemas.microsoft.com/office/drawing/2014/main" id="{83669959-E51E-4BB1-AB29-2D4257F7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803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Allenamento: uno spazio separato per fare pratica.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Il percorso e la modalità infinita">
            <a:extLst xmlns:a="http://schemas.openxmlformats.org/drawingml/2006/main">
              <a:ext uri="{FF2B5EF4-FFF2-40B4-BE49-F238E27FC236}">
                <a16:creationId xmlns:a16="http://schemas.microsoft.com/office/drawing/2014/main" id="{ACFDE931-5945-4385-8C96-B9D0FB14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Il percorso e la modalità infinita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52450" y="1190625"/>
          <a:ext xmlns:a="http://schemas.openxmlformats.org/drawingml/2006/main" cx="8039100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4019550"/>
              </a:tblGrid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Progressivo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Infinito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20 livelli, regole fisse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Dopo tutti i 20 livelli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Avanzi un livello alla volta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Si sblocca al completamento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ra i turni puoi ripassare i livelli già sbloccati.">
            <a:extLst xmlns:a="http://schemas.openxmlformats.org/drawingml/2006/main">
              <a:ext uri="{FF2B5EF4-FFF2-40B4-BE49-F238E27FC236}">
                <a16:creationId xmlns:a16="http://schemas.microsoft.com/office/drawing/2014/main" id="{43A72FD6-115A-4D45-9232-F95FAF91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803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Tra i turni puoi ripassare i livelli già sbloccati.</a:t>
            </a:r>
          </a:p>
        </p:txBody>
      </p:sp>
      <p:sp>
        <p:nvSpPr>
          <p:cNvPr id="4" name="Apri il link condiviso dal docente.">
            <a:extLst xmlns:a="http://schemas.openxmlformats.org/drawingml/2006/main">
              <a:ext uri="{FF2B5EF4-FFF2-40B4-BE49-F238E27FC236}">
                <a16:creationId xmlns:a16="http://schemas.microsoft.com/office/drawing/2014/main" id="{3594265F-A069-4DFE-88ED-5A2C1647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8039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Apri il link condiviso dal docente.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va guidata: chi entra?">
            <a:extLst xmlns:a="http://schemas.openxmlformats.org/drawingml/2006/main">
              <a:ext uri="{FF2B5EF4-FFF2-40B4-BE49-F238E27FC236}">
                <a16:creationId xmlns:a16="http://schemas.microsoft.com/office/drawing/2014/main" id="{21C9075F-D3BF-472E-9DC9-89C15250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Prova guidata: chi entra?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3f2f795924b8c"/>
          <a:stretch xmlns:a="http://schemas.openxmlformats.org/drawingml/2006/main"/>
        </p:blipFill>
        <p:spPr>
          <a:xfrm xmlns:a="http://schemas.openxmlformats.org/drawingml/2006/main">
            <a:off x="3171825" y="9715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3" name="|">
            <a:extLst xmlns:a="http://schemas.openxmlformats.org/drawingml/2006/main">
              <a:ext uri="{FF2B5EF4-FFF2-40B4-BE49-F238E27FC236}">
                <a16:creationId xmlns:a16="http://schemas.microsoft.com/office/drawing/2014/main" id="{279E6680-9035-443C-83E9-749CA7C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971550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|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cb31bd1744ec4"/>
          <a:stretch xmlns:a="http://schemas.openxmlformats.org/drawingml/2006/main"/>
        </p:blipFill>
        <p:spPr>
          <a:xfrm xmlns:a="http://schemas.openxmlformats.org/drawingml/2006/main">
            <a:off x="5172075" y="971550"/>
            <a:ext cx="800100" cy="8001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8039100" cy="1876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9775"/>
                <a:gridCol w="2009775"/>
                <a:gridCol w="2009775"/>
                <a:gridCol w="2009775"/>
              </a:tblGrid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Ospite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Cappello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Occhiali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 oppure 1?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…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…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…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…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oluzioni: basta almeno un tratto">
            <a:extLst xmlns:a="http://schemas.openxmlformats.org/drawingml/2006/main">
              <a:ext uri="{FF2B5EF4-FFF2-40B4-BE49-F238E27FC236}">
                <a16:creationId xmlns:a16="http://schemas.microsoft.com/office/drawing/2014/main" id="{BB6AD228-03FF-43FA-BEFC-C38C680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Soluzioni: basta almeno un tratto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b20e4b5bd42bf"/>
          <a:stretch xmlns:a="http://schemas.openxmlformats.org/drawingml/2006/main"/>
        </p:blipFill>
        <p:spPr>
          <a:xfrm xmlns:a="http://schemas.openxmlformats.org/drawingml/2006/main">
            <a:off x="3171825" y="9715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3" name="|">
            <a:extLst xmlns:a="http://schemas.openxmlformats.org/drawingml/2006/main">
              <a:ext uri="{FF2B5EF4-FFF2-40B4-BE49-F238E27FC236}">
                <a16:creationId xmlns:a16="http://schemas.microsoft.com/office/drawing/2014/main" id="{31F7691A-5B70-4DA7-B7F6-A4D152B9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971550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|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51a1918724468"/>
          <a:stretch xmlns:a="http://schemas.openxmlformats.org/drawingml/2006/main"/>
        </p:blipFill>
        <p:spPr>
          <a:xfrm xmlns:a="http://schemas.openxmlformats.org/drawingml/2006/main">
            <a:off x="5172075" y="971550"/>
            <a:ext cx="800100" cy="8001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"/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8039100" cy="1876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79700"/>
                <a:gridCol w="2679700"/>
                <a:gridCol w="2679700"/>
              </a:tblGrid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Ospite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Valutazione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Esito</a:t>
                      </a:r>
                    </a:p>
                  </a:txBody>
                  <a:tcPr marL="57150" marR="57150" marT="47625" marB="47625" anchor="ctr">
                    <a:solidFill>
                      <a:srgbClr val="181D3D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 | 0 = 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Ammetti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 | 1 = 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Ammetti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1 | 1 = 1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Ammetti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0 | 0 = 0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1D3D"/>
                          </a:solidFill>
                          <a:latin typeface="Arial"/>
                          <a:ea typeface="Arial"/>
                          <a:cs typeface="Arial"/>
                        </a:rPr>
                        <a:t>Respingi</a:t>
                      </a:r>
                    </a:p>
                  </a:txBody>
                  <a:tcPr marL="57150" marR="571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Il LOG e la consegna su Classroom">
            <a:extLst xmlns:a="http://schemas.openxmlformats.org/drawingml/2006/main">
              <a:ext uri="{FF2B5EF4-FFF2-40B4-BE49-F238E27FC236}">
                <a16:creationId xmlns:a16="http://schemas.microsoft.com/office/drawing/2014/main" id="{D81D6FF1-7C0A-4536-909B-65F051D7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Il LOG e la consegna su Classroom</a:t>
            </a:r>
          </a:p>
        </p:txBody>
      </p:sp>
      <p:sp>
        <p:nvSpPr>
          <p:cNvPr id="2" name="Apri «Il mio report» e scarica il LOG.">
            <a:extLst xmlns:a="http://schemas.openxmlformats.org/drawingml/2006/main">
              <a:ext uri="{FF2B5EF4-FFF2-40B4-BE49-F238E27FC236}">
                <a16:creationId xmlns:a16="http://schemas.microsoft.com/office/drawing/2014/main" id="{9E09B245-D8FD-48ED-A585-031449C5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03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Apri «Il mio report» e scarica il LOG.</a:t>
            </a:r>
          </a:p>
        </p:txBody>
      </p:sp>
      <p:sp>
        <p:nvSpPr>
          <p:cNvPr id="3" name="Apri il compito indicato dal docente su Classroom.">
            <a:extLst xmlns:a="http://schemas.openxmlformats.org/drawingml/2006/main">
              <a:ext uri="{FF2B5EF4-FFF2-40B4-BE49-F238E27FC236}">
                <a16:creationId xmlns:a16="http://schemas.microsoft.com/office/drawing/2014/main" id="{D5C71078-F530-43F0-9336-2A904E5F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803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Apri il compito indicato dal docente su Classroom.</a:t>
            </a:r>
          </a:p>
        </p:txBody>
      </p:sp>
      <p:sp>
        <p:nvSpPr>
          <p:cNvPr id="4" name="Allega il file scaricato.">
            <a:extLst xmlns:a="http://schemas.openxmlformats.org/drawingml/2006/main">
              <a:ext uri="{FF2B5EF4-FFF2-40B4-BE49-F238E27FC236}">
                <a16:creationId xmlns:a16="http://schemas.microsoft.com/office/drawing/2014/main" id="{D8D6B4B3-D838-481D-91EA-4B0979E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803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Allega il file scaricato.</a:t>
            </a:r>
          </a:p>
        </p:txBody>
      </p:sp>
      <p:sp>
        <p:nvSpPr>
          <p:cNvPr id="5" name="Premi «Consegna» e controlla la conferma.">
            <a:extLst xmlns:a="http://schemas.openxmlformats.org/drawingml/2006/main">
              <a:ext uri="{FF2B5EF4-FFF2-40B4-BE49-F238E27FC236}">
                <a16:creationId xmlns:a16="http://schemas.microsoft.com/office/drawing/2014/main" id="{1F7E233F-4916-4AD7-AB54-F61846D0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803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Premi «Consegna» e controlla la conferma.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ima di uscire">
            <a:extLst xmlns:a="http://schemas.openxmlformats.org/drawingml/2006/main">
              <a:ext uri="{FF2B5EF4-FFF2-40B4-BE49-F238E27FC236}">
                <a16:creationId xmlns:a16="http://schemas.microsoft.com/office/drawing/2014/main" id="{9F8AA986-F3B7-4C60-8388-F449D51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1D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1D3D"/>
                </a:solidFill>
                <a:latin typeface="Arial"/>
                <a:ea typeface="Arial"/>
                <a:cs typeface="Arial"/>
              </a:rPr>
              <a:t>Prima di uscire</a:t>
            </a:r>
          </a:p>
        </p:txBody>
      </p:sp>
      <p:sp>
        <p:nvSpPr>
          <p:cNvPr id="2" name="Quando &amp; dà 1?">
            <a:extLst xmlns:a="http://schemas.openxmlformats.org/drawingml/2006/main">
              <a:ext uri="{FF2B5EF4-FFF2-40B4-BE49-F238E27FC236}">
                <a16:creationId xmlns:a16="http://schemas.microsoft.com/office/drawing/2014/main" id="{C4159E50-F0EA-4563-BF23-2537C74D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Quando &amp; dà 1?</a:t>
            </a:r>
          </a:p>
        </p:txBody>
      </p:sp>
      <p:sp>
        <p:nvSpPr>
          <p:cNvPr id="3" name="Perché 1 | 1 dà ancora 1?">
            <a:extLst xmlns:a="http://schemas.openxmlformats.org/drawingml/2006/main">
              <a:ext uri="{FF2B5EF4-FFF2-40B4-BE49-F238E27FC236}">
                <a16:creationId xmlns:a16="http://schemas.microsoft.com/office/drawing/2014/main" id="{ECCE77E1-65E0-47D0-AB8E-5DFE4B4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Perché 1 | 1 dà ancora 1?</a:t>
            </a:r>
          </a:p>
        </p:txBody>
      </p:sp>
      <p:sp>
        <p:nvSpPr>
          <p:cNvPr id="4" name="Che cosa fa !?">
            <a:extLst xmlns:a="http://schemas.openxmlformats.org/drawingml/2006/main">
              <a:ext uri="{FF2B5EF4-FFF2-40B4-BE49-F238E27FC236}">
                <a16:creationId xmlns:a16="http://schemas.microsoft.com/office/drawing/2014/main" id="{AAD28FC8-0D4F-4CCB-AFA4-2317CAEA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Che cosa fa !?</a:t>
            </a:r>
          </a:p>
        </p:txBody>
      </p:sp>
      <p:sp>
        <p:nvSpPr>
          <p:cNvPr id="5" name="Racconta una scelta del gioco e spiega la regola.">
            <a:extLst xmlns:a="http://schemas.openxmlformats.org/drawingml/2006/main">
              <a:ext uri="{FF2B5EF4-FFF2-40B4-BE49-F238E27FC236}">
                <a16:creationId xmlns:a16="http://schemas.microsoft.com/office/drawing/2014/main" id="{416AC4D6-C5ED-4B5E-BE7C-B4C5BFD8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E696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96C"/>
                </a:solidFill>
                <a:latin typeface="Arial"/>
                <a:ea typeface="Arial"/>
                <a:cs typeface="Arial"/>
              </a:rPr>
              <a:t>Racconta una scelta del gioco e spiega la regola.</a:t>
            </a:r>
          </a:p>
        </p:txBody>
      </p:sp>
    </p:spTree>
    <p:extLst>
      <p:ext uri="{BB962C8B-B14F-4D97-AF65-F5344CB8AC3E}">
        <p14:creationId xmlns:p14="http://schemas.microsoft.com/office/powerpoint/2010/main" val="22708319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2026-09-24T23:32:55.1490000Z</dcterms:created>
  <dcterms:modified xsi:type="dcterms:W3CDTF">2026-09-24T23:32:55.1490000Z</dcterms:modified>
</coreProperties>
</file>